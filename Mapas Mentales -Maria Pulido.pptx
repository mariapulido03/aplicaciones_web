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Fredoka" charset="1" panose="02000000000000000000"/>
      <p:regular r:id="rId12"/>
    </p:embeddedFont>
    <p:embeddedFont>
      <p:font typeface="Lazydog" charset="1" panose="00000000000000000000"/>
      <p:regular r:id="rId13"/>
    </p:embeddedFont>
    <p:embeddedFont>
      <p:font typeface="Luciole" charset="1" panose="020B0500020200000003"/>
      <p:regular r:id="rId14"/>
    </p:embeddedFont>
    <p:embeddedFont>
      <p:font typeface="Luciole Bold" charset="1" panose="020B0800020200000003"/>
      <p:regular r:id="rId15"/>
    </p:embeddedFont>
    <p:embeddedFont>
      <p:font typeface="DM Sans Bold" charset="1" panose="00000000000000000000"/>
      <p:regular r:id="rId16"/>
    </p:embeddedFont>
    <p:embeddedFont>
      <p:font typeface="Scripter" charset="1" panose="00000000000000000000"/>
      <p:regular r:id="rId17"/>
    </p:embeddedFont>
    <p:embeddedFont>
      <p:font typeface="More Sugar Thin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18" Target="../media/image27.png" Type="http://schemas.openxmlformats.org/officeDocument/2006/relationships/image"/><Relationship Id="rId19" Target="../media/image28.svg" Type="http://schemas.openxmlformats.org/officeDocument/2006/relationships/image"/><Relationship Id="rId2" Target="../media/image1.png" Type="http://schemas.openxmlformats.org/officeDocument/2006/relationships/image"/><Relationship Id="rId20" Target="../media/image3.png" Type="http://schemas.openxmlformats.org/officeDocument/2006/relationships/image"/><Relationship Id="rId21" Target="../media/image4.sv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15.png" Type="http://schemas.openxmlformats.org/officeDocument/2006/relationships/image"/><Relationship Id="rId19" Target="../media/image16.sv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svg" Type="http://schemas.openxmlformats.org/officeDocument/2006/relationships/image"/><Relationship Id="rId22" Target="../media/image19.png" Type="http://schemas.openxmlformats.org/officeDocument/2006/relationships/image"/><Relationship Id="rId23" Target="../media/image20.svg" Type="http://schemas.openxmlformats.org/officeDocument/2006/relationships/image"/><Relationship Id="rId24" Target="../media/image21.png" Type="http://schemas.openxmlformats.org/officeDocument/2006/relationships/image"/><Relationship Id="rId25" Target="../media/image22.svg" Type="http://schemas.openxmlformats.org/officeDocument/2006/relationships/image"/><Relationship Id="rId26" Target="../media/image23.png" Type="http://schemas.openxmlformats.org/officeDocument/2006/relationships/image"/><Relationship Id="rId27" Target="../media/image24.svg" Type="http://schemas.openxmlformats.org/officeDocument/2006/relationships/image"/><Relationship Id="rId28" Target="../media/image25.png" Type="http://schemas.openxmlformats.org/officeDocument/2006/relationships/image"/><Relationship Id="rId29" Target="../media/image26.svg" Type="http://schemas.openxmlformats.org/officeDocument/2006/relationships/image"/><Relationship Id="rId3" Target="../media/image2.svg" Type="http://schemas.openxmlformats.org/officeDocument/2006/relationships/image"/><Relationship Id="rId30" Target="../media/image27.png" Type="http://schemas.openxmlformats.org/officeDocument/2006/relationships/image"/><Relationship Id="rId31" Target="../media/image2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45.png" Type="http://schemas.openxmlformats.org/officeDocument/2006/relationships/image"/><Relationship Id="rId13" Target="../media/image46.svg" Type="http://schemas.openxmlformats.org/officeDocument/2006/relationships/image"/><Relationship Id="rId14" Target="../media/image47.png" Type="http://schemas.openxmlformats.org/officeDocument/2006/relationships/image"/><Relationship Id="rId15" Target="../media/image48.svg" Type="http://schemas.openxmlformats.org/officeDocument/2006/relationships/image"/><Relationship Id="rId16" Target="../media/image49.png" Type="http://schemas.openxmlformats.org/officeDocument/2006/relationships/image"/><Relationship Id="rId17" Target="../media/image50.svg" Type="http://schemas.openxmlformats.org/officeDocument/2006/relationships/image"/><Relationship Id="rId18" Target="../media/image51.png" Type="http://schemas.openxmlformats.org/officeDocument/2006/relationships/image"/><Relationship Id="rId19" Target="../media/image52.svg" Type="http://schemas.openxmlformats.org/officeDocument/2006/relationships/image"/><Relationship Id="rId2" Target="../media/image35.png" Type="http://schemas.openxmlformats.org/officeDocument/2006/relationships/image"/><Relationship Id="rId20" Target="../media/image53.png" Type="http://schemas.openxmlformats.org/officeDocument/2006/relationships/image"/><Relationship Id="rId21" Target="../media/image54.sv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00516">
            <a:off x="-652548" y="2415428"/>
            <a:ext cx="1608710" cy="1324992"/>
          </a:xfrm>
          <a:custGeom>
            <a:avLst/>
            <a:gdLst/>
            <a:ahLst/>
            <a:cxnLst/>
            <a:rect r="r" b="b" t="t" l="l"/>
            <a:pathLst>
              <a:path h="1324992" w="1608710">
                <a:moveTo>
                  <a:pt x="0" y="0"/>
                </a:moveTo>
                <a:lnTo>
                  <a:pt x="1608710" y="0"/>
                </a:lnTo>
                <a:lnTo>
                  <a:pt x="1608710" y="1324993"/>
                </a:lnTo>
                <a:lnTo>
                  <a:pt x="0" y="1324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931038">
            <a:off x="17740425" y="6229992"/>
            <a:ext cx="974561" cy="1673066"/>
          </a:xfrm>
          <a:custGeom>
            <a:avLst/>
            <a:gdLst/>
            <a:ahLst/>
            <a:cxnLst/>
            <a:rect r="r" b="b" t="t" l="l"/>
            <a:pathLst>
              <a:path h="1673066" w="974561">
                <a:moveTo>
                  <a:pt x="974561" y="0"/>
                </a:moveTo>
                <a:lnTo>
                  <a:pt x="0" y="0"/>
                </a:lnTo>
                <a:lnTo>
                  <a:pt x="0" y="1673067"/>
                </a:lnTo>
                <a:lnTo>
                  <a:pt x="974561" y="1673067"/>
                </a:lnTo>
                <a:lnTo>
                  <a:pt x="9745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696461">
            <a:off x="-744251" y="4465389"/>
            <a:ext cx="1873062" cy="2064497"/>
          </a:xfrm>
          <a:custGeom>
            <a:avLst/>
            <a:gdLst/>
            <a:ahLst/>
            <a:cxnLst/>
            <a:rect r="r" b="b" t="t" l="l"/>
            <a:pathLst>
              <a:path h="2064497" w="1873062">
                <a:moveTo>
                  <a:pt x="1873062" y="0"/>
                </a:moveTo>
                <a:lnTo>
                  <a:pt x="0" y="0"/>
                </a:lnTo>
                <a:lnTo>
                  <a:pt x="0" y="2064498"/>
                </a:lnTo>
                <a:lnTo>
                  <a:pt x="1873062" y="2064498"/>
                </a:lnTo>
                <a:lnTo>
                  <a:pt x="187306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1541" y="1741231"/>
            <a:ext cx="3996248" cy="1017227"/>
          </a:xfrm>
          <a:custGeom>
            <a:avLst/>
            <a:gdLst/>
            <a:ahLst/>
            <a:cxnLst/>
            <a:rect r="r" b="b" t="t" l="l"/>
            <a:pathLst>
              <a:path h="1017227" w="3996248">
                <a:moveTo>
                  <a:pt x="0" y="0"/>
                </a:moveTo>
                <a:lnTo>
                  <a:pt x="3996248" y="0"/>
                </a:lnTo>
                <a:lnTo>
                  <a:pt x="3996248" y="1017226"/>
                </a:lnTo>
                <a:lnTo>
                  <a:pt x="0" y="1017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436444"/>
            <a:ext cx="3996248" cy="1017227"/>
          </a:xfrm>
          <a:custGeom>
            <a:avLst/>
            <a:gdLst/>
            <a:ahLst/>
            <a:cxnLst/>
            <a:rect r="r" b="b" t="t" l="l"/>
            <a:pathLst>
              <a:path h="1017227" w="3996248">
                <a:moveTo>
                  <a:pt x="0" y="0"/>
                </a:moveTo>
                <a:lnTo>
                  <a:pt x="3996248" y="0"/>
                </a:lnTo>
                <a:lnTo>
                  <a:pt x="3996248" y="1017227"/>
                </a:lnTo>
                <a:lnTo>
                  <a:pt x="0" y="10172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45876" y="6496675"/>
            <a:ext cx="3996248" cy="1017227"/>
          </a:xfrm>
          <a:custGeom>
            <a:avLst/>
            <a:gdLst/>
            <a:ahLst/>
            <a:cxnLst/>
            <a:rect r="r" b="b" t="t" l="l"/>
            <a:pathLst>
              <a:path h="1017227" w="3996248">
                <a:moveTo>
                  <a:pt x="0" y="0"/>
                </a:moveTo>
                <a:lnTo>
                  <a:pt x="3996248" y="0"/>
                </a:lnTo>
                <a:lnTo>
                  <a:pt x="3996248" y="1017226"/>
                </a:lnTo>
                <a:lnTo>
                  <a:pt x="0" y="10172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230606" y="5479448"/>
            <a:ext cx="3996248" cy="1017227"/>
          </a:xfrm>
          <a:custGeom>
            <a:avLst/>
            <a:gdLst/>
            <a:ahLst/>
            <a:cxnLst/>
            <a:rect r="r" b="b" t="t" l="l"/>
            <a:pathLst>
              <a:path h="1017227" w="3996248">
                <a:moveTo>
                  <a:pt x="0" y="0"/>
                </a:moveTo>
                <a:lnTo>
                  <a:pt x="3996248" y="0"/>
                </a:lnTo>
                <a:lnTo>
                  <a:pt x="3996248" y="1017227"/>
                </a:lnTo>
                <a:lnTo>
                  <a:pt x="0" y="101722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240001">
            <a:off x="16893161" y="4046875"/>
            <a:ext cx="1723215" cy="2038212"/>
          </a:xfrm>
          <a:custGeom>
            <a:avLst/>
            <a:gdLst/>
            <a:ahLst/>
            <a:cxnLst/>
            <a:rect r="r" b="b" t="t" l="l"/>
            <a:pathLst>
              <a:path h="2038212" w="1723215">
                <a:moveTo>
                  <a:pt x="0" y="0"/>
                </a:moveTo>
                <a:lnTo>
                  <a:pt x="1723215" y="0"/>
                </a:lnTo>
                <a:lnTo>
                  <a:pt x="1723215" y="2038211"/>
                </a:lnTo>
                <a:lnTo>
                  <a:pt x="0" y="203821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187765" y="1780300"/>
            <a:ext cx="3996248" cy="1017227"/>
          </a:xfrm>
          <a:custGeom>
            <a:avLst/>
            <a:gdLst/>
            <a:ahLst/>
            <a:cxnLst/>
            <a:rect r="r" b="b" t="t" l="l"/>
            <a:pathLst>
              <a:path h="1017227" w="3996248">
                <a:moveTo>
                  <a:pt x="0" y="0"/>
                </a:moveTo>
                <a:lnTo>
                  <a:pt x="3996248" y="0"/>
                </a:lnTo>
                <a:lnTo>
                  <a:pt x="3996248" y="1017227"/>
                </a:lnTo>
                <a:lnTo>
                  <a:pt x="0" y="101722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18854" y="1441917"/>
            <a:ext cx="7450293" cy="4619181"/>
          </a:xfrm>
          <a:custGeom>
            <a:avLst/>
            <a:gdLst/>
            <a:ahLst/>
            <a:cxnLst/>
            <a:rect r="r" b="b" t="t" l="l"/>
            <a:pathLst>
              <a:path h="4619181" w="7450293">
                <a:moveTo>
                  <a:pt x="0" y="0"/>
                </a:moveTo>
                <a:lnTo>
                  <a:pt x="7450292" y="0"/>
                </a:lnTo>
                <a:lnTo>
                  <a:pt x="7450292" y="4619182"/>
                </a:lnTo>
                <a:lnTo>
                  <a:pt x="0" y="461918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642113" y="1842748"/>
            <a:ext cx="2971328" cy="1080483"/>
          </a:xfrm>
          <a:custGeom>
            <a:avLst/>
            <a:gdLst/>
            <a:ahLst/>
            <a:cxnLst/>
            <a:rect r="r" b="b" t="t" l="l"/>
            <a:pathLst>
              <a:path h="1080483" w="2971328">
                <a:moveTo>
                  <a:pt x="0" y="0"/>
                </a:moveTo>
                <a:lnTo>
                  <a:pt x="2971328" y="0"/>
                </a:lnTo>
                <a:lnTo>
                  <a:pt x="2971328" y="1080484"/>
                </a:lnTo>
                <a:lnTo>
                  <a:pt x="0" y="108048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246429" y="4377364"/>
            <a:ext cx="1059191" cy="1034155"/>
          </a:xfrm>
          <a:custGeom>
            <a:avLst/>
            <a:gdLst/>
            <a:ahLst/>
            <a:cxnLst/>
            <a:rect r="r" b="b" t="t" l="l"/>
            <a:pathLst>
              <a:path h="1034155" w="1059191">
                <a:moveTo>
                  <a:pt x="0" y="0"/>
                </a:moveTo>
                <a:lnTo>
                  <a:pt x="1059191" y="0"/>
                </a:lnTo>
                <a:lnTo>
                  <a:pt x="1059191" y="1034155"/>
                </a:lnTo>
                <a:lnTo>
                  <a:pt x="0" y="103415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142124" y="1972842"/>
            <a:ext cx="1059191" cy="1034155"/>
          </a:xfrm>
          <a:custGeom>
            <a:avLst/>
            <a:gdLst/>
            <a:ahLst/>
            <a:cxnLst/>
            <a:rect r="r" b="b" t="t" l="l"/>
            <a:pathLst>
              <a:path h="1034155" w="1059191">
                <a:moveTo>
                  <a:pt x="0" y="0"/>
                </a:moveTo>
                <a:lnTo>
                  <a:pt x="1059191" y="0"/>
                </a:lnTo>
                <a:lnTo>
                  <a:pt x="1059191" y="1034155"/>
                </a:lnTo>
                <a:lnTo>
                  <a:pt x="0" y="103415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963272" y="4508445"/>
            <a:ext cx="2127755" cy="700225"/>
          </a:xfrm>
          <a:custGeom>
            <a:avLst/>
            <a:gdLst/>
            <a:ahLst/>
            <a:cxnLst/>
            <a:rect r="r" b="b" t="t" l="l"/>
            <a:pathLst>
              <a:path h="700225" w="2127755">
                <a:moveTo>
                  <a:pt x="0" y="0"/>
                </a:moveTo>
                <a:lnTo>
                  <a:pt x="2127755" y="0"/>
                </a:lnTo>
                <a:lnTo>
                  <a:pt x="2127755" y="700225"/>
                </a:lnTo>
                <a:lnTo>
                  <a:pt x="0" y="70022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302383">
            <a:off x="3796520" y="550030"/>
            <a:ext cx="1612348" cy="1193138"/>
          </a:xfrm>
          <a:custGeom>
            <a:avLst/>
            <a:gdLst/>
            <a:ahLst/>
            <a:cxnLst/>
            <a:rect r="r" b="b" t="t" l="l"/>
            <a:pathLst>
              <a:path h="1193138" w="1612348">
                <a:moveTo>
                  <a:pt x="0" y="0"/>
                </a:moveTo>
                <a:lnTo>
                  <a:pt x="1612348" y="0"/>
                </a:lnTo>
                <a:lnTo>
                  <a:pt x="1612348" y="1193138"/>
                </a:lnTo>
                <a:lnTo>
                  <a:pt x="0" y="119313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2576275">
            <a:off x="3651839" y="4416434"/>
            <a:ext cx="1583545" cy="1171824"/>
          </a:xfrm>
          <a:custGeom>
            <a:avLst/>
            <a:gdLst/>
            <a:ahLst/>
            <a:cxnLst/>
            <a:rect r="r" b="b" t="t" l="l"/>
            <a:pathLst>
              <a:path h="1171824" w="1583545">
                <a:moveTo>
                  <a:pt x="0" y="0"/>
                </a:moveTo>
                <a:lnTo>
                  <a:pt x="1583546" y="0"/>
                </a:lnTo>
                <a:lnTo>
                  <a:pt x="1583546" y="1171824"/>
                </a:lnTo>
                <a:lnTo>
                  <a:pt x="0" y="1171824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905263">
            <a:off x="12893462" y="613943"/>
            <a:ext cx="1583545" cy="1171824"/>
          </a:xfrm>
          <a:custGeom>
            <a:avLst/>
            <a:gdLst/>
            <a:ahLst/>
            <a:cxnLst/>
            <a:rect r="r" b="b" t="t" l="l"/>
            <a:pathLst>
              <a:path h="1171824" w="1583545">
                <a:moveTo>
                  <a:pt x="1583546" y="0"/>
                </a:moveTo>
                <a:lnTo>
                  <a:pt x="0" y="0"/>
                </a:lnTo>
                <a:lnTo>
                  <a:pt x="0" y="1171824"/>
                </a:lnTo>
                <a:lnTo>
                  <a:pt x="1583546" y="1171824"/>
                </a:lnTo>
                <a:lnTo>
                  <a:pt x="1583546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-2314116">
            <a:off x="12966905" y="4503489"/>
            <a:ext cx="1583545" cy="1171824"/>
          </a:xfrm>
          <a:custGeom>
            <a:avLst/>
            <a:gdLst/>
            <a:ahLst/>
            <a:cxnLst/>
            <a:rect r="r" b="b" t="t" l="l"/>
            <a:pathLst>
              <a:path h="1171824" w="1583545">
                <a:moveTo>
                  <a:pt x="1583545" y="0"/>
                </a:moveTo>
                <a:lnTo>
                  <a:pt x="0" y="0"/>
                </a:lnTo>
                <a:lnTo>
                  <a:pt x="0" y="1171823"/>
                </a:lnTo>
                <a:lnTo>
                  <a:pt x="1583545" y="1171823"/>
                </a:lnTo>
                <a:lnTo>
                  <a:pt x="1583545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7980513">
            <a:off x="11014037" y="6419376"/>
            <a:ext cx="1583545" cy="1171824"/>
          </a:xfrm>
          <a:custGeom>
            <a:avLst/>
            <a:gdLst/>
            <a:ahLst/>
            <a:cxnLst/>
            <a:rect r="r" b="b" t="t" l="l"/>
            <a:pathLst>
              <a:path h="1171824" w="1583545">
                <a:moveTo>
                  <a:pt x="0" y="0"/>
                </a:moveTo>
                <a:lnTo>
                  <a:pt x="1583545" y="0"/>
                </a:lnTo>
                <a:lnTo>
                  <a:pt x="1583545" y="1171824"/>
                </a:lnTo>
                <a:lnTo>
                  <a:pt x="0" y="1171824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-7346402">
            <a:off x="5695831" y="6340895"/>
            <a:ext cx="1583545" cy="1171824"/>
          </a:xfrm>
          <a:custGeom>
            <a:avLst/>
            <a:gdLst/>
            <a:ahLst/>
            <a:cxnLst/>
            <a:rect r="r" b="b" t="t" l="l"/>
            <a:pathLst>
              <a:path h="1171824" w="1583545">
                <a:moveTo>
                  <a:pt x="1583546" y="0"/>
                </a:moveTo>
                <a:lnTo>
                  <a:pt x="0" y="0"/>
                </a:lnTo>
                <a:lnTo>
                  <a:pt x="0" y="1171823"/>
                </a:lnTo>
                <a:lnTo>
                  <a:pt x="1583546" y="1171823"/>
                </a:lnTo>
                <a:lnTo>
                  <a:pt x="1583546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776025" y="2692752"/>
            <a:ext cx="4779328" cy="19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9"/>
              </a:lnSpc>
            </a:pPr>
            <a:r>
              <a:rPr lang="en-US" sz="5620">
                <a:solidFill>
                  <a:srgbClr val="1A1E2D"/>
                </a:solidFill>
                <a:latin typeface="Fredoka"/>
                <a:ea typeface="Fredoka"/>
                <a:cs typeface="Fredoka"/>
                <a:sym typeface="Fredoka"/>
              </a:rPr>
              <a:t>PROTOCOLO HTTP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1477" y="2132466"/>
            <a:ext cx="3355970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4"/>
              </a:lnSpc>
            </a:pPr>
            <a:r>
              <a:rPr lang="en-US" sz="2820">
                <a:solidFill>
                  <a:srgbClr val="1A1E2D"/>
                </a:solidFill>
                <a:latin typeface="Lazydog"/>
                <a:ea typeface="Lazydog"/>
                <a:cs typeface="Lazydog"/>
                <a:sym typeface="Lazydog"/>
              </a:rPr>
              <a:t>¿QUE ES?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1680" y="5798905"/>
            <a:ext cx="3355970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4"/>
              </a:lnSpc>
            </a:pPr>
            <a:r>
              <a:rPr lang="en-US" sz="2820">
                <a:solidFill>
                  <a:srgbClr val="1A1E2D"/>
                </a:solidFill>
                <a:latin typeface="Lazydog"/>
                <a:ea typeface="Lazydog"/>
                <a:cs typeface="Lazydog"/>
                <a:sym typeface="Lazydog"/>
              </a:rPr>
              <a:t>¿COMO FUNCIONA?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06806" y="6899299"/>
            <a:ext cx="3778763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4"/>
              </a:lnSpc>
            </a:pPr>
            <a:r>
              <a:rPr lang="en-US" sz="2820">
                <a:solidFill>
                  <a:srgbClr val="1A1E2D"/>
                </a:solidFill>
                <a:latin typeface="Lazydog"/>
                <a:ea typeface="Lazydog"/>
                <a:cs typeface="Lazydog"/>
                <a:sym typeface="Lazydog"/>
              </a:rPr>
              <a:t>METODOS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95484" y="5798905"/>
            <a:ext cx="3001308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4"/>
              </a:lnSpc>
            </a:pPr>
            <a:r>
              <a:rPr lang="en-US" sz="2820">
                <a:solidFill>
                  <a:srgbClr val="1A1E2D"/>
                </a:solidFill>
                <a:latin typeface="Lazydog"/>
                <a:ea typeface="Lazydog"/>
                <a:cs typeface="Lazydog"/>
                <a:sym typeface="Lazydog"/>
              </a:rPr>
              <a:t>SEGURIDAD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47918" y="2104901"/>
            <a:ext cx="3075943" cy="3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2"/>
              </a:lnSpc>
            </a:pPr>
            <a:r>
              <a:rPr lang="en-US" sz="2818">
                <a:solidFill>
                  <a:srgbClr val="1A1E2D"/>
                </a:solidFill>
                <a:latin typeface="Lazydog"/>
                <a:ea typeface="Lazydog"/>
                <a:cs typeface="Lazydog"/>
                <a:sym typeface="Lazydog"/>
              </a:rPr>
              <a:t>Estados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4382" y="3014591"/>
            <a:ext cx="3910566" cy="1130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Es el protocolo de comunicacion utilizado en la World Wide Web,permite transferencia de datos entre un cliente y un servidor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14382" y="6521055"/>
            <a:ext cx="3910566" cy="361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Se basa en un modelo Cliente-Servidor</a:t>
            </a:r>
          </a:p>
          <a:p>
            <a:pPr algn="ctr">
              <a:lnSpc>
                <a:spcPts val="2239"/>
              </a:lnSpc>
            </a:pP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-Usuario ingresa una URL en su navegador</a:t>
            </a:r>
          </a:p>
          <a:p>
            <a:pPr algn="ctr">
              <a:lnSpc>
                <a:spcPts val="2239"/>
              </a:lnSpc>
            </a:pP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-El navegador envia una solicitud al servidor correspondiente</a:t>
            </a:r>
          </a:p>
          <a:p>
            <a:pPr algn="ctr">
              <a:lnSpc>
                <a:spcPts val="2239"/>
              </a:lnSpc>
            </a:pP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-Servidor procesa la solicitud</a:t>
            </a:r>
          </a:p>
          <a:p>
            <a:pPr algn="ctr">
              <a:lnSpc>
                <a:spcPts val="2239"/>
              </a:lnSpc>
            </a:pP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-Servidor envia una respuesta de vuelta al cliente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6487604" y="7842644"/>
            <a:ext cx="5413644" cy="223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GET : Recuperar los datos de un servidor,utilizado al acceder a una pagina web</a:t>
            </a: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POST:Envia datos al servidor para que sean procesados</a:t>
            </a: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PUT:Actualizar recurso existente en el servidor, sino existe lo crea</a:t>
            </a: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DELETE:Elimina un recurso especifico en el servidor</a:t>
            </a: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HEAD:Solicita encabezados del recurso sin su cuerpo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3316288" y="6521055"/>
            <a:ext cx="3910566" cy="389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-HTTPS utiliza transport layer security(TLS) para cifrar los datos transferidos.</a:t>
            </a:r>
          </a:p>
          <a:p>
            <a:pPr algn="ctr">
              <a:lnSpc>
                <a:spcPts val="2239"/>
              </a:lnSpc>
            </a:pP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-HTTPS encripta los datos transferidos entre el cliente y el servidor</a:t>
            </a:r>
          </a:p>
          <a:p>
            <a:pPr algn="ctr">
              <a:lnSpc>
                <a:spcPts val="2239"/>
              </a:lnSpc>
            </a:pP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-El protocolo utiliza certificados digitales para autentificar la identidad del servidor</a:t>
            </a:r>
          </a:p>
          <a:p>
            <a:pPr algn="ctr">
              <a:lnSpc>
                <a:spcPts val="2239"/>
              </a:lnSpc>
            </a:pP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-Identifica cualquier modificacion de los datos durante la transferencia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3230606" y="3053660"/>
            <a:ext cx="3910566" cy="1407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🔵1xx - Respuestas informativas</a:t>
            </a:r>
          </a:p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🟢 2xx - Respuestas exitosas</a:t>
            </a:r>
          </a:p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🟡 3xx - Redirecciones</a:t>
            </a:r>
          </a:p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🔴 4xx - Errores del cliente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⚫ 5xx - Errores del servidor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-1900516">
            <a:off x="7916847" y="-448821"/>
            <a:ext cx="1608710" cy="1324992"/>
          </a:xfrm>
          <a:custGeom>
            <a:avLst/>
            <a:gdLst/>
            <a:ahLst/>
            <a:cxnLst/>
            <a:rect r="r" b="b" t="t" l="l"/>
            <a:pathLst>
              <a:path h="1324992" w="1608710">
                <a:moveTo>
                  <a:pt x="0" y="0"/>
                </a:moveTo>
                <a:lnTo>
                  <a:pt x="1608711" y="0"/>
                </a:lnTo>
                <a:lnTo>
                  <a:pt x="1608711" y="1324992"/>
                </a:lnTo>
                <a:lnTo>
                  <a:pt x="0" y="1324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true" flipV="false" rot="1931038">
            <a:off x="17267488" y="-347621"/>
            <a:ext cx="974561" cy="1673066"/>
          </a:xfrm>
          <a:custGeom>
            <a:avLst/>
            <a:gdLst/>
            <a:ahLst/>
            <a:cxnLst/>
            <a:rect r="r" b="b" t="t" l="l"/>
            <a:pathLst>
              <a:path h="1673066" w="974561">
                <a:moveTo>
                  <a:pt x="974561" y="0"/>
                </a:moveTo>
                <a:lnTo>
                  <a:pt x="0" y="0"/>
                </a:lnTo>
                <a:lnTo>
                  <a:pt x="0" y="1673066"/>
                </a:lnTo>
                <a:lnTo>
                  <a:pt x="974561" y="1673066"/>
                </a:lnTo>
                <a:lnTo>
                  <a:pt x="9745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1931038">
            <a:off x="26220" y="-386691"/>
            <a:ext cx="974561" cy="1673066"/>
          </a:xfrm>
          <a:custGeom>
            <a:avLst/>
            <a:gdLst/>
            <a:ahLst/>
            <a:cxnLst/>
            <a:rect r="r" b="b" t="t" l="l"/>
            <a:pathLst>
              <a:path h="1673066" w="974561">
                <a:moveTo>
                  <a:pt x="0" y="0"/>
                </a:moveTo>
                <a:lnTo>
                  <a:pt x="974561" y="0"/>
                </a:lnTo>
                <a:lnTo>
                  <a:pt x="974561" y="1673066"/>
                </a:lnTo>
                <a:lnTo>
                  <a:pt x="0" y="1673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00516">
            <a:off x="-652548" y="2415428"/>
            <a:ext cx="1608710" cy="1324992"/>
          </a:xfrm>
          <a:custGeom>
            <a:avLst/>
            <a:gdLst/>
            <a:ahLst/>
            <a:cxnLst/>
            <a:rect r="r" b="b" t="t" l="l"/>
            <a:pathLst>
              <a:path h="1324992" w="1608710">
                <a:moveTo>
                  <a:pt x="0" y="0"/>
                </a:moveTo>
                <a:lnTo>
                  <a:pt x="1608710" y="0"/>
                </a:lnTo>
                <a:lnTo>
                  <a:pt x="1608710" y="1324993"/>
                </a:lnTo>
                <a:lnTo>
                  <a:pt x="0" y="1324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931038">
            <a:off x="17740425" y="6229992"/>
            <a:ext cx="974561" cy="1673066"/>
          </a:xfrm>
          <a:custGeom>
            <a:avLst/>
            <a:gdLst/>
            <a:ahLst/>
            <a:cxnLst/>
            <a:rect r="r" b="b" t="t" l="l"/>
            <a:pathLst>
              <a:path h="1673066" w="974561">
                <a:moveTo>
                  <a:pt x="974561" y="0"/>
                </a:moveTo>
                <a:lnTo>
                  <a:pt x="0" y="0"/>
                </a:lnTo>
                <a:lnTo>
                  <a:pt x="0" y="1673067"/>
                </a:lnTo>
                <a:lnTo>
                  <a:pt x="974561" y="1673067"/>
                </a:lnTo>
                <a:lnTo>
                  <a:pt x="9745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696461">
            <a:off x="-744251" y="4465389"/>
            <a:ext cx="1873062" cy="2064497"/>
          </a:xfrm>
          <a:custGeom>
            <a:avLst/>
            <a:gdLst/>
            <a:ahLst/>
            <a:cxnLst/>
            <a:rect r="r" b="b" t="t" l="l"/>
            <a:pathLst>
              <a:path h="2064497" w="1873062">
                <a:moveTo>
                  <a:pt x="1873062" y="0"/>
                </a:moveTo>
                <a:lnTo>
                  <a:pt x="0" y="0"/>
                </a:lnTo>
                <a:lnTo>
                  <a:pt x="0" y="2064498"/>
                </a:lnTo>
                <a:lnTo>
                  <a:pt x="1873062" y="2064498"/>
                </a:lnTo>
                <a:lnTo>
                  <a:pt x="187306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1541" y="1741231"/>
            <a:ext cx="3996248" cy="1017227"/>
          </a:xfrm>
          <a:custGeom>
            <a:avLst/>
            <a:gdLst/>
            <a:ahLst/>
            <a:cxnLst/>
            <a:rect r="r" b="b" t="t" l="l"/>
            <a:pathLst>
              <a:path h="1017227" w="3996248">
                <a:moveTo>
                  <a:pt x="0" y="0"/>
                </a:moveTo>
                <a:lnTo>
                  <a:pt x="3996248" y="0"/>
                </a:lnTo>
                <a:lnTo>
                  <a:pt x="3996248" y="1017226"/>
                </a:lnTo>
                <a:lnTo>
                  <a:pt x="0" y="1017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436444"/>
            <a:ext cx="3996248" cy="1017227"/>
          </a:xfrm>
          <a:custGeom>
            <a:avLst/>
            <a:gdLst/>
            <a:ahLst/>
            <a:cxnLst/>
            <a:rect r="r" b="b" t="t" l="l"/>
            <a:pathLst>
              <a:path h="1017227" w="3996248">
                <a:moveTo>
                  <a:pt x="0" y="0"/>
                </a:moveTo>
                <a:lnTo>
                  <a:pt x="3996248" y="0"/>
                </a:lnTo>
                <a:lnTo>
                  <a:pt x="3996248" y="1017227"/>
                </a:lnTo>
                <a:lnTo>
                  <a:pt x="0" y="10172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45876" y="6496675"/>
            <a:ext cx="3996248" cy="1017227"/>
          </a:xfrm>
          <a:custGeom>
            <a:avLst/>
            <a:gdLst/>
            <a:ahLst/>
            <a:cxnLst/>
            <a:rect r="r" b="b" t="t" l="l"/>
            <a:pathLst>
              <a:path h="1017227" w="3996248">
                <a:moveTo>
                  <a:pt x="0" y="0"/>
                </a:moveTo>
                <a:lnTo>
                  <a:pt x="3996248" y="0"/>
                </a:lnTo>
                <a:lnTo>
                  <a:pt x="3996248" y="1017226"/>
                </a:lnTo>
                <a:lnTo>
                  <a:pt x="0" y="10172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230606" y="5479448"/>
            <a:ext cx="3996248" cy="1017227"/>
          </a:xfrm>
          <a:custGeom>
            <a:avLst/>
            <a:gdLst/>
            <a:ahLst/>
            <a:cxnLst/>
            <a:rect r="r" b="b" t="t" l="l"/>
            <a:pathLst>
              <a:path h="1017227" w="3996248">
                <a:moveTo>
                  <a:pt x="0" y="0"/>
                </a:moveTo>
                <a:lnTo>
                  <a:pt x="3996248" y="0"/>
                </a:lnTo>
                <a:lnTo>
                  <a:pt x="3996248" y="1017227"/>
                </a:lnTo>
                <a:lnTo>
                  <a:pt x="0" y="101722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240001">
            <a:off x="16893161" y="4046875"/>
            <a:ext cx="1723215" cy="2038212"/>
          </a:xfrm>
          <a:custGeom>
            <a:avLst/>
            <a:gdLst/>
            <a:ahLst/>
            <a:cxnLst/>
            <a:rect r="r" b="b" t="t" l="l"/>
            <a:pathLst>
              <a:path h="2038212" w="1723215">
                <a:moveTo>
                  <a:pt x="0" y="0"/>
                </a:moveTo>
                <a:lnTo>
                  <a:pt x="1723215" y="0"/>
                </a:lnTo>
                <a:lnTo>
                  <a:pt x="1723215" y="2038211"/>
                </a:lnTo>
                <a:lnTo>
                  <a:pt x="0" y="203821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187765" y="1780300"/>
            <a:ext cx="3996248" cy="1017227"/>
          </a:xfrm>
          <a:custGeom>
            <a:avLst/>
            <a:gdLst/>
            <a:ahLst/>
            <a:cxnLst/>
            <a:rect r="r" b="b" t="t" l="l"/>
            <a:pathLst>
              <a:path h="1017227" w="3996248">
                <a:moveTo>
                  <a:pt x="0" y="0"/>
                </a:moveTo>
                <a:lnTo>
                  <a:pt x="3996248" y="0"/>
                </a:lnTo>
                <a:lnTo>
                  <a:pt x="3996248" y="1017227"/>
                </a:lnTo>
                <a:lnTo>
                  <a:pt x="0" y="101722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18854" y="1441917"/>
            <a:ext cx="7450293" cy="4619181"/>
          </a:xfrm>
          <a:custGeom>
            <a:avLst/>
            <a:gdLst/>
            <a:ahLst/>
            <a:cxnLst/>
            <a:rect r="r" b="b" t="t" l="l"/>
            <a:pathLst>
              <a:path h="4619181" w="7450293">
                <a:moveTo>
                  <a:pt x="0" y="0"/>
                </a:moveTo>
                <a:lnTo>
                  <a:pt x="7450292" y="0"/>
                </a:lnTo>
                <a:lnTo>
                  <a:pt x="7450292" y="4619182"/>
                </a:lnTo>
                <a:lnTo>
                  <a:pt x="0" y="461918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642113" y="1842748"/>
            <a:ext cx="2971328" cy="1080483"/>
          </a:xfrm>
          <a:custGeom>
            <a:avLst/>
            <a:gdLst/>
            <a:ahLst/>
            <a:cxnLst/>
            <a:rect r="r" b="b" t="t" l="l"/>
            <a:pathLst>
              <a:path h="1080483" w="2971328">
                <a:moveTo>
                  <a:pt x="0" y="0"/>
                </a:moveTo>
                <a:lnTo>
                  <a:pt x="2971328" y="0"/>
                </a:lnTo>
                <a:lnTo>
                  <a:pt x="2971328" y="1080484"/>
                </a:lnTo>
                <a:lnTo>
                  <a:pt x="0" y="108048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246429" y="4377364"/>
            <a:ext cx="1059191" cy="1034155"/>
          </a:xfrm>
          <a:custGeom>
            <a:avLst/>
            <a:gdLst/>
            <a:ahLst/>
            <a:cxnLst/>
            <a:rect r="r" b="b" t="t" l="l"/>
            <a:pathLst>
              <a:path h="1034155" w="1059191">
                <a:moveTo>
                  <a:pt x="0" y="0"/>
                </a:moveTo>
                <a:lnTo>
                  <a:pt x="1059191" y="0"/>
                </a:lnTo>
                <a:lnTo>
                  <a:pt x="1059191" y="1034155"/>
                </a:lnTo>
                <a:lnTo>
                  <a:pt x="0" y="103415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142124" y="1972842"/>
            <a:ext cx="1059191" cy="1034155"/>
          </a:xfrm>
          <a:custGeom>
            <a:avLst/>
            <a:gdLst/>
            <a:ahLst/>
            <a:cxnLst/>
            <a:rect r="r" b="b" t="t" l="l"/>
            <a:pathLst>
              <a:path h="1034155" w="1059191">
                <a:moveTo>
                  <a:pt x="0" y="0"/>
                </a:moveTo>
                <a:lnTo>
                  <a:pt x="1059191" y="0"/>
                </a:lnTo>
                <a:lnTo>
                  <a:pt x="1059191" y="1034155"/>
                </a:lnTo>
                <a:lnTo>
                  <a:pt x="0" y="103415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963272" y="4508445"/>
            <a:ext cx="2127755" cy="700225"/>
          </a:xfrm>
          <a:custGeom>
            <a:avLst/>
            <a:gdLst/>
            <a:ahLst/>
            <a:cxnLst/>
            <a:rect r="r" b="b" t="t" l="l"/>
            <a:pathLst>
              <a:path h="700225" w="2127755">
                <a:moveTo>
                  <a:pt x="0" y="0"/>
                </a:moveTo>
                <a:lnTo>
                  <a:pt x="2127755" y="0"/>
                </a:lnTo>
                <a:lnTo>
                  <a:pt x="2127755" y="700225"/>
                </a:lnTo>
                <a:lnTo>
                  <a:pt x="0" y="70022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302383">
            <a:off x="3796520" y="550030"/>
            <a:ext cx="1612348" cy="1193138"/>
          </a:xfrm>
          <a:custGeom>
            <a:avLst/>
            <a:gdLst/>
            <a:ahLst/>
            <a:cxnLst/>
            <a:rect r="r" b="b" t="t" l="l"/>
            <a:pathLst>
              <a:path h="1193138" w="1612348">
                <a:moveTo>
                  <a:pt x="0" y="0"/>
                </a:moveTo>
                <a:lnTo>
                  <a:pt x="1612348" y="0"/>
                </a:lnTo>
                <a:lnTo>
                  <a:pt x="1612348" y="1193138"/>
                </a:lnTo>
                <a:lnTo>
                  <a:pt x="0" y="119313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2576275">
            <a:off x="3651839" y="4416434"/>
            <a:ext cx="1583545" cy="1171824"/>
          </a:xfrm>
          <a:custGeom>
            <a:avLst/>
            <a:gdLst/>
            <a:ahLst/>
            <a:cxnLst/>
            <a:rect r="r" b="b" t="t" l="l"/>
            <a:pathLst>
              <a:path h="1171824" w="1583545">
                <a:moveTo>
                  <a:pt x="0" y="0"/>
                </a:moveTo>
                <a:lnTo>
                  <a:pt x="1583546" y="0"/>
                </a:lnTo>
                <a:lnTo>
                  <a:pt x="1583546" y="1171824"/>
                </a:lnTo>
                <a:lnTo>
                  <a:pt x="0" y="1171824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905263">
            <a:off x="12893462" y="613943"/>
            <a:ext cx="1583545" cy="1171824"/>
          </a:xfrm>
          <a:custGeom>
            <a:avLst/>
            <a:gdLst/>
            <a:ahLst/>
            <a:cxnLst/>
            <a:rect r="r" b="b" t="t" l="l"/>
            <a:pathLst>
              <a:path h="1171824" w="1583545">
                <a:moveTo>
                  <a:pt x="1583546" y="0"/>
                </a:moveTo>
                <a:lnTo>
                  <a:pt x="0" y="0"/>
                </a:lnTo>
                <a:lnTo>
                  <a:pt x="0" y="1171824"/>
                </a:lnTo>
                <a:lnTo>
                  <a:pt x="1583546" y="1171824"/>
                </a:lnTo>
                <a:lnTo>
                  <a:pt x="1583546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-2314116">
            <a:off x="12966905" y="4503489"/>
            <a:ext cx="1583545" cy="1171824"/>
          </a:xfrm>
          <a:custGeom>
            <a:avLst/>
            <a:gdLst/>
            <a:ahLst/>
            <a:cxnLst/>
            <a:rect r="r" b="b" t="t" l="l"/>
            <a:pathLst>
              <a:path h="1171824" w="1583545">
                <a:moveTo>
                  <a:pt x="1583545" y="0"/>
                </a:moveTo>
                <a:lnTo>
                  <a:pt x="0" y="0"/>
                </a:lnTo>
                <a:lnTo>
                  <a:pt x="0" y="1171823"/>
                </a:lnTo>
                <a:lnTo>
                  <a:pt x="1583545" y="1171823"/>
                </a:lnTo>
                <a:lnTo>
                  <a:pt x="1583545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7980513">
            <a:off x="11014037" y="6419376"/>
            <a:ext cx="1583545" cy="1171824"/>
          </a:xfrm>
          <a:custGeom>
            <a:avLst/>
            <a:gdLst/>
            <a:ahLst/>
            <a:cxnLst/>
            <a:rect r="r" b="b" t="t" l="l"/>
            <a:pathLst>
              <a:path h="1171824" w="1583545">
                <a:moveTo>
                  <a:pt x="0" y="0"/>
                </a:moveTo>
                <a:lnTo>
                  <a:pt x="1583545" y="0"/>
                </a:lnTo>
                <a:lnTo>
                  <a:pt x="1583545" y="1171824"/>
                </a:lnTo>
                <a:lnTo>
                  <a:pt x="0" y="1171824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-7346402">
            <a:off x="5695831" y="6340895"/>
            <a:ext cx="1583545" cy="1171824"/>
          </a:xfrm>
          <a:custGeom>
            <a:avLst/>
            <a:gdLst/>
            <a:ahLst/>
            <a:cxnLst/>
            <a:rect r="r" b="b" t="t" l="l"/>
            <a:pathLst>
              <a:path h="1171824" w="1583545">
                <a:moveTo>
                  <a:pt x="1583546" y="0"/>
                </a:moveTo>
                <a:lnTo>
                  <a:pt x="0" y="0"/>
                </a:lnTo>
                <a:lnTo>
                  <a:pt x="0" y="1171823"/>
                </a:lnTo>
                <a:lnTo>
                  <a:pt x="1583546" y="1171823"/>
                </a:lnTo>
                <a:lnTo>
                  <a:pt x="1583546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057162" y="2945084"/>
            <a:ext cx="5614557" cy="152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7"/>
              </a:lnSpc>
            </a:pPr>
            <a:r>
              <a:rPr lang="en-US" sz="4391">
                <a:solidFill>
                  <a:srgbClr val="1A1E2D"/>
                </a:solidFill>
                <a:latin typeface="Fredoka"/>
                <a:ea typeface="Fredoka"/>
                <a:cs typeface="Fredoka"/>
                <a:sym typeface="Fredoka"/>
              </a:rPr>
              <a:t>COMO FUNCIONA LA WEB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1680" y="1942529"/>
            <a:ext cx="3355970" cy="68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4"/>
              </a:lnSpc>
            </a:pPr>
            <a:r>
              <a:rPr lang="en-US" sz="2820">
                <a:solidFill>
                  <a:srgbClr val="1A1E2D"/>
                </a:solidFill>
                <a:latin typeface="Lazydog"/>
                <a:ea typeface="Lazydog"/>
                <a:cs typeface="Lazydog"/>
                <a:sym typeface="Lazydog"/>
              </a:rPr>
              <a:t>🌐 ¿CÓMO FUNCIONA LA WEB?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4382" y="5637743"/>
            <a:ext cx="3718950" cy="68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4"/>
              </a:lnSpc>
            </a:pPr>
            <a:r>
              <a:rPr lang="en-US" sz="2820">
                <a:solidFill>
                  <a:srgbClr val="1A1E2D"/>
                </a:solidFill>
                <a:latin typeface="Lazydog"/>
                <a:ea typeface="Lazydog"/>
                <a:cs typeface="Lazydog"/>
                <a:sym typeface="Lazydog"/>
              </a:rPr>
              <a:t>🌐 ¿CÓMO SE CARGA UNA PAGINA WEB?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54619" y="6859898"/>
            <a:ext cx="3778763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4"/>
              </a:lnSpc>
            </a:pPr>
            <a:r>
              <a:rPr lang="en-US" sz="2820">
                <a:solidFill>
                  <a:srgbClr val="1A1E2D"/>
                </a:solidFill>
                <a:latin typeface="Lazydog"/>
                <a:ea typeface="Lazydog"/>
                <a:cs typeface="Lazydog"/>
                <a:sym typeface="Lazydog"/>
              </a:rPr>
              <a:t>TIPOS DE SITIOS WEB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28076" y="5680747"/>
            <a:ext cx="3001308" cy="68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4"/>
              </a:lnSpc>
            </a:pPr>
            <a:r>
              <a:rPr lang="en-US" sz="2820">
                <a:solidFill>
                  <a:srgbClr val="1A1E2D"/>
                </a:solidFill>
                <a:latin typeface="Lazydog"/>
                <a:ea typeface="Lazydog"/>
                <a:cs typeface="Lazydog"/>
                <a:sym typeface="Lazydog"/>
              </a:rPr>
              <a:t>COMPONENTES PRINCIPALES</a:t>
            </a:r>
            <a:r>
              <a:rPr lang="en-US" sz="2820">
                <a:solidFill>
                  <a:srgbClr val="1A1E2D"/>
                </a:solidFill>
                <a:latin typeface="Lazydog"/>
                <a:ea typeface="Lazydog"/>
                <a:cs typeface="Lazydog"/>
                <a:sym typeface="Lazydog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47918" y="1982462"/>
            <a:ext cx="3075943" cy="3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2"/>
              </a:lnSpc>
            </a:pPr>
            <a:r>
              <a:rPr lang="en-US" sz="2818">
                <a:solidFill>
                  <a:srgbClr val="1A1E2D"/>
                </a:solidFill>
                <a:latin typeface="Lazydog"/>
                <a:ea typeface="Lazydog"/>
                <a:cs typeface="Lazydog"/>
                <a:sym typeface="Lazydog"/>
              </a:rPr>
              <a:t>Seguridad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4382" y="3014591"/>
            <a:ext cx="3910566" cy="168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Sitema de intercambio de informacion entre clientes y servidores atravez de internet, utiliza protocolos como HTTPS/HTTPS para la comunicacion y esta basada en arquitectura cliente-servidor.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685" y="6430000"/>
            <a:ext cx="5690343" cy="389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-Usuario ingresa URL</a:t>
            </a:r>
          </a:p>
          <a:p>
            <a:pPr algn="ctr">
              <a:lnSpc>
                <a:spcPts val="2239"/>
              </a:lnSpc>
            </a:pP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-El navegador consulta el DNS para obtener la IP del servidor</a:t>
            </a:r>
          </a:p>
          <a:p>
            <a:pPr algn="ctr">
              <a:lnSpc>
                <a:spcPts val="2239"/>
              </a:lnSpc>
            </a:pP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-Se establece una conexion con el servidor mediente HTTP/HTTPS</a:t>
            </a:r>
          </a:p>
          <a:p>
            <a:pPr algn="ctr">
              <a:lnSpc>
                <a:spcPts val="2239"/>
              </a:lnSpc>
            </a:pP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-El servidor envia los archivos de la pagina web</a:t>
            </a:r>
          </a:p>
          <a:p>
            <a:pPr algn="ctr">
              <a:lnSpc>
                <a:spcPts val="2239"/>
              </a:lnSpc>
            </a:pP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-El navegador procesa y renderiza la pagina</a:t>
            </a:r>
          </a:p>
          <a:p>
            <a:pPr algn="ctr">
              <a:lnSpc>
                <a:spcPts val="2239"/>
              </a:lnSpc>
            </a:pP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-Se muestra la pagina web al usuario 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7188717" y="7770035"/>
            <a:ext cx="4128051" cy="168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-Estaticos:No cambian su contenido</a:t>
            </a:r>
          </a:p>
          <a:p>
            <a:pPr algn="ctr">
              <a:lnSpc>
                <a:spcPts val="2239"/>
              </a:lnSpc>
            </a:pP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-Dinamicos:Se actualizan en tiempo real</a:t>
            </a:r>
          </a:p>
          <a:p>
            <a:pPr algn="ctr">
              <a:lnSpc>
                <a:spcPts val="2239"/>
              </a:lnSpc>
            </a:pP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-E-Commerce:Tiendas en linea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2869146" y="6630539"/>
            <a:ext cx="5418854" cy="361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-Cliente(Navegador o App web</a:t>
            </a: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-Servidor web</a:t>
            </a: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Recibe la solicitud y devuelve el contenido solicitado(Apache,Nginx,lls)</a:t>
            </a: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-Servidor de Base de datos</a:t>
            </a: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Almacena la informacion de la web(Mysql,PostgresSQL,Mongo Db</a:t>
            </a: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-Protocolo HTTP/HTTPS</a:t>
            </a: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Regula como se comunican los clientes y servidores </a:t>
            </a: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-DNS(Sistema de nombres de dominio)</a:t>
            </a: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Traduce el dominio en una direccion IP para localizar el servidor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3080023" y="2856557"/>
            <a:ext cx="4997100" cy="195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-Uso de HTTPS para cifrar la informacion</a:t>
            </a:r>
          </a:p>
          <a:p>
            <a:pPr algn="ctr">
              <a:lnSpc>
                <a:spcPts val="2239"/>
              </a:lnSpc>
            </a:pP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-Autentificacion y autorizacion(OAuth,JWT,Tokens)</a:t>
            </a:r>
          </a:p>
          <a:p>
            <a:pPr algn="ctr">
              <a:lnSpc>
                <a:spcPts val="2239"/>
              </a:lnSpc>
            </a:pPr>
          </a:p>
          <a:p>
            <a:pPr algn="ctr">
              <a:lnSpc>
                <a:spcPts val="2239"/>
              </a:lnSpc>
            </a:pPr>
            <a:r>
              <a:rPr lang="en-US" sz="1599" spc="-1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-Proteccion contra ataques(SQL Injection,XSS,CSRF)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7688786" y="9379513"/>
            <a:ext cx="3148500" cy="1517005"/>
          </a:xfrm>
          <a:custGeom>
            <a:avLst/>
            <a:gdLst/>
            <a:ahLst/>
            <a:cxnLst/>
            <a:rect r="r" b="b" t="t" l="l"/>
            <a:pathLst>
              <a:path h="1517005" w="3148500">
                <a:moveTo>
                  <a:pt x="0" y="0"/>
                </a:moveTo>
                <a:lnTo>
                  <a:pt x="3148500" y="0"/>
                </a:lnTo>
                <a:lnTo>
                  <a:pt x="3148500" y="1517004"/>
                </a:lnTo>
                <a:lnTo>
                  <a:pt x="0" y="1517004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-1900516">
            <a:off x="7916847" y="-448821"/>
            <a:ext cx="1608710" cy="1324992"/>
          </a:xfrm>
          <a:custGeom>
            <a:avLst/>
            <a:gdLst/>
            <a:ahLst/>
            <a:cxnLst/>
            <a:rect r="r" b="b" t="t" l="l"/>
            <a:pathLst>
              <a:path h="1324992" w="1608710">
                <a:moveTo>
                  <a:pt x="0" y="0"/>
                </a:moveTo>
                <a:lnTo>
                  <a:pt x="1608711" y="0"/>
                </a:lnTo>
                <a:lnTo>
                  <a:pt x="1608711" y="1324992"/>
                </a:lnTo>
                <a:lnTo>
                  <a:pt x="0" y="1324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true" flipV="false" rot="1931038">
            <a:off x="17267488" y="-347621"/>
            <a:ext cx="974561" cy="1673066"/>
          </a:xfrm>
          <a:custGeom>
            <a:avLst/>
            <a:gdLst/>
            <a:ahLst/>
            <a:cxnLst/>
            <a:rect r="r" b="b" t="t" l="l"/>
            <a:pathLst>
              <a:path h="1673066" w="974561">
                <a:moveTo>
                  <a:pt x="974561" y="0"/>
                </a:moveTo>
                <a:lnTo>
                  <a:pt x="0" y="0"/>
                </a:lnTo>
                <a:lnTo>
                  <a:pt x="0" y="1673066"/>
                </a:lnTo>
                <a:lnTo>
                  <a:pt x="974561" y="1673066"/>
                </a:lnTo>
                <a:lnTo>
                  <a:pt x="9745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1931038">
            <a:off x="26220" y="-386691"/>
            <a:ext cx="974561" cy="1673066"/>
          </a:xfrm>
          <a:custGeom>
            <a:avLst/>
            <a:gdLst/>
            <a:ahLst/>
            <a:cxnLst/>
            <a:rect r="r" b="b" t="t" l="l"/>
            <a:pathLst>
              <a:path h="1673066" w="974561">
                <a:moveTo>
                  <a:pt x="0" y="0"/>
                </a:moveTo>
                <a:lnTo>
                  <a:pt x="974561" y="0"/>
                </a:lnTo>
                <a:lnTo>
                  <a:pt x="974561" y="1673066"/>
                </a:lnTo>
                <a:lnTo>
                  <a:pt x="0" y="1673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00516">
            <a:off x="-652548" y="2415428"/>
            <a:ext cx="1608710" cy="1324992"/>
          </a:xfrm>
          <a:custGeom>
            <a:avLst/>
            <a:gdLst/>
            <a:ahLst/>
            <a:cxnLst/>
            <a:rect r="r" b="b" t="t" l="l"/>
            <a:pathLst>
              <a:path h="1324992" w="1608710">
                <a:moveTo>
                  <a:pt x="0" y="0"/>
                </a:moveTo>
                <a:lnTo>
                  <a:pt x="1608710" y="0"/>
                </a:lnTo>
                <a:lnTo>
                  <a:pt x="1608710" y="1324993"/>
                </a:lnTo>
                <a:lnTo>
                  <a:pt x="0" y="1324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5473" y="182628"/>
            <a:ext cx="3996248" cy="1017227"/>
          </a:xfrm>
          <a:custGeom>
            <a:avLst/>
            <a:gdLst/>
            <a:ahLst/>
            <a:cxnLst/>
            <a:rect r="r" b="b" t="t" l="l"/>
            <a:pathLst>
              <a:path h="1017227" w="3996248">
                <a:moveTo>
                  <a:pt x="0" y="0"/>
                </a:moveTo>
                <a:lnTo>
                  <a:pt x="3996248" y="0"/>
                </a:lnTo>
                <a:lnTo>
                  <a:pt x="3996248" y="1017227"/>
                </a:lnTo>
                <a:lnTo>
                  <a:pt x="0" y="1017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45876" y="6496675"/>
            <a:ext cx="3996248" cy="1017227"/>
          </a:xfrm>
          <a:custGeom>
            <a:avLst/>
            <a:gdLst/>
            <a:ahLst/>
            <a:cxnLst/>
            <a:rect r="r" b="b" t="t" l="l"/>
            <a:pathLst>
              <a:path h="1017227" w="3996248">
                <a:moveTo>
                  <a:pt x="0" y="0"/>
                </a:moveTo>
                <a:lnTo>
                  <a:pt x="3996248" y="0"/>
                </a:lnTo>
                <a:lnTo>
                  <a:pt x="3996248" y="1017226"/>
                </a:lnTo>
                <a:lnTo>
                  <a:pt x="0" y="10172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62092" y="213675"/>
            <a:ext cx="3996248" cy="1017227"/>
          </a:xfrm>
          <a:custGeom>
            <a:avLst/>
            <a:gdLst/>
            <a:ahLst/>
            <a:cxnLst/>
            <a:rect r="r" b="b" t="t" l="l"/>
            <a:pathLst>
              <a:path h="1017227" w="3996248">
                <a:moveTo>
                  <a:pt x="0" y="0"/>
                </a:moveTo>
                <a:lnTo>
                  <a:pt x="3996248" y="0"/>
                </a:lnTo>
                <a:lnTo>
                  <a:pt x="3996248" y="1017227"/>
                </a:lnTo>
                <a:lnTo>
                  <a:pt x="0" y="10172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18854" y="1441917"/>
            <a:ext cx="7450293" cy="4619181"/>
          </a:xfrm>
          <a:custGeom>
            <a:avLst/>
            <a:gdLst/>
            <a:ahLst/>
            <a:cxnLst/>
            <a:rect r="r" b="b" t="t" l="l"/>
            <a:pathLst>
              <a:path h="4619181" w="7450293">
                <a:moveTo>
                  <a:pt x="0" y="0"/>
                </a:moveTo>
                <a:lnTo>
                  <a:pt x="7450292" y="0"/>
                </a:lnTo>
                <a:lnTo>
                  <a:pt x="7450292" y="4619182"/>
                </a:lnTo>
                <a:lnTo>
                  <a:pt x="0" y="46191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42113" y="1842748"/>
            <a:ext cx="2971328" cy="1080483"/>
          </a:xfrm>
          <a:custGeom>
            <a:avLst/>
            <a:gdLst/>
            <a:ahLst/>
            <a:cxnLst/>
            <a:rect r="r" b="b" t="t" l="l"/>
            <a:pathLst>
              <a:path h="1080483" w="2971328">
                <a:moveTo>
                  <a:pt x="0" y="0"/>
                </a:moveTo>
                <a:lnTo>
                  <a:pt x="2971328" y="0"/>
                </a:lnTo>
                <a:lnTo>
                  <a:pt x="2971328" y="1080484"/>
                </a:lnTo>
                <a:lnTo>
                  <a:pt x="0" y="10804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46429" y="4377364"/>
            <a:ext cx="1059191" cy="1034155"/>
          </a:xfrm>
          <a:custGeom>
            <a:avLst/>
            <a:gdLst/>
            <a:ahLst/>
            <a:cxnLst/>
            <a:rect r="r" b="b" t="t" l="l"/>
            <a:pathLst>
              <a:path h="1034155" w="1059191">
                <a:moveTo>
                  <a:pt x="0" y="0"/>
                </a:moveTo>
                <a:lnTo>
                  <a:pt x="1059191" y="0"/>
                </a:lnTo>
                <a:lnTo>
                  <a:pt x="1059191" y="1034155"/>
                </a:lnTo>
                <a:lnTo>
                  <a:pt x="0" y="10341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142124" y="1972842"/>
            <a:ext cx="1059191" cy="1034155"/>
          </a:xfrm>
          <a:custGeom>
            <a:avLst/>
            <a:gdLst/>
            <a:ahLst/>
            <a:cxnLst/>
            <a:rect r="r" b="b" t="t" l="l"/>
            <a:pathLst>
              <a:path h="1034155" w="1059191">
                <a:moveTo>
                  <a:pt x="0" y="0"/>
                </a:moveTo>
                <a:lnTo>
                  <a:pt x="1059191" y="0"/>
                </a:lnTo>
                <a:lnTo>
                  <a:pt x="1059191" y="1034155"/>
                </a:lnTo>
                <a:lnTo>
                  <a:pt x="0" y="10341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63272" y="4508445"/>
            <a:ext cx="2127755" cy="700225"/>
          </a:xfrm>
          <a:custGeom>
            <a:avLst/>
            <a:gdLst/>
            <a:ahLst/>
            <a:cxnLst/>
            <a:rect r="r" b="b" t="t" l="l"/>
            <a:pathLst>
              <a:path h="700225" w="2127755">
                <a:moveTo>
                  <a:pt x="0" y="0"/>
                </a:moveTo>
                <a:lnTo>
                  <a:pt x="2127755" y="0"/>
                </a:lnTo>
                <a:lnTo>
                  <a:pt x="2127755" y="700225"/>
                </a:lnTo>
                <a:lnTo>
                  <a:pt x="0" y="7002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3604382">
            <a:off x="5364767" y="191303"/>
            <a:ext cx="1612348" cy="1193138"/>
          </a:xfrm>
          <a:custGeom>
            <a:avLst/>
            <a:gdLst/>
            <a:ahLst/>
            <a:cxnLst/>
            <a:rect r="r" b="b" t="t" l="l"/>
            <a:pathLst>
              <a:path h="1193138" w="1612348">
                <a:moveTo>
                  <a:pt x="0" y="0"/>
                </a:moveTo>
                <a:lnTo>
                  <a:pt x="1612348" y="0"/>
                </a:lnTo>
                <a:lnTo>
                  <a:pt x="1612348" y="1193138"/>
                </a:lnTo>
                <a:lnTo>
                  <a:pt x="0" y="119313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4484419">
            <a:off x="11808064" y="201960"/>
            <a:ext cx="1583545" cy="1171824"/>
          </a:xfrm>
          <a:custGeom>
            <a:avLst/>
            <a:gdLst/>
            <a:ahLst/>
            <a:cxnLst/>
            <a:rect r="r" b="b" t="t" l="l"/>
            <a:pathLst>
              <a:path h="1171824" w="1583545">
                <a:moveTo>
                  <a:pt x="1583546" y="0"/>
                </a:moveTo>
                <a:lnTo>
                  <a:pt x="0" y="0"/>
                </a:lnTo>
                <a:lnTo>
                  <a:pt x="0" y="1171824"/>
                </a:lnTo>
                <a:lnTo>
                  <a:pt x="1583546" y="1171824"/>
                </a:lnTo>
                <a:lnTo>
                  <a:pt x="1583546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7980513">
            <a:off x="10879947" y="6207312"/>
            <a:ext cx="1583545" cy="1171824"/>
          </a:xfrm>
          <a:custGeom>
            <a:avLst/>
            <a:gdLst/>
            <a:ahLst/>
            <a:cxnLst/>
            <a:rect r="r" b="b" t="t" l="l"/>
            <a:pathLst>
              <a:path h="1171824" w="1583545">
                <a:moveTo>
                  <a:pt x="0" y="0"/>
                </a:moveTo>
                <a:lnTo>
                  <a:pt x="1583545" y="0"/>
                </a:lnTo>
                <a:lnTo>
                  <a:pt x="1583545" y="1171823"/>
                </a:lnTo>
                <a:lnTo>
                  <a:pt x="0" y="117182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-7346402">
            <a:off x="5768638" y="6203440"/>
            <a:ext cx="1583545" cy="1171824"/>
          </a:xfrm>
          <a:custGeom>
            <a:avLst/>
            <a:gdLst/>
            <a:ahLst/>
            <a:cxnLst/>
            <a:rect r="r" b="b" t="t" l="l"/>
            <a:pathLst>
              <a:path h="1171824" w="1583545">
                <a:moveTo>
                  <a:pt x="1583545" y="0"/>
                </a:moveTo>
                <a:lnTo>
                  <a:pt x="0" y="0"/>
                </a:lnTo>
                <a:lnTo>
                  <a:pt x="0" y="1171823"/>
                </a:lnTo>
                <a:lnTo>
                  <a:pt x="1583545" y="1171823"/>
                </a:lnTo>
                <a:lnTo>
                  <a:pt x="1583545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138351" y="3044135"/>
            <a:ext cx="4228783" cy="147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6"/>
              </a:lnSpc>
            </a:pPr>
            <a:r>
              <a:rPr lang="en-US" sz="4247">
                <a:solidFill>
                  <a:srgbClr val="1A1E2D"/>
                </a:solidFill>
                <a:latin typeface="Fredoka"/>
                <a:ea typeface="Fredoka"/>
                <a:cs typeface="Fredoka"/>
                <a:sym typeface="Fredoka"/>
              </a:rPr>
              <a:t>SEGURIDAD  EN </a:t>
            </a:r>
          </a:p>
          <a:p>
            <a:pPr algn="ctr">
              <a:lnSpc>
                <a:spcPts val="5946"/>
              </a:lnSpc>
            </a:pPr>
            <a:r>
              <a:rPr lang="en-US" sz="4247">
                <a:solidFill>
                  <a:srgbClr val="1A1E2D"/>
                </a:solidFill>
                <a:latin typeface="Fredoka"/>
                <a:ea typeface="Fredoka"/>
                <a:cs typeface="Fredoka"/>
                <a:sym typeface="Fredoka"/>
              </a:rPr>
              <a:t>3 CAPAS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5337" y="516517"/>
            <a:ext cx="3926384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4"/>
              </a:lnSpc>
            </a:pPr>
            <a:r>
              <a:rPr lang="en-US" sz="2820">
                <a:solidFill>
                  <a:srgbClr val="1A1E2D"/>
                </a:solidFill>
                <a:latin typeface="Lazydog"/>
                <a:ea typeface="Lazydog"/>
                <a:cs typeface="Lazydog"/>
                <a:sym typeface="Lazydog"/>
              </a:rPr>
              <a:t>CAPA DE PRESENTACION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54619" y="6859898"/>
            <a:ext cx="3778763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4"/>
              </a:lnSpc>
            </a:pPr>
            <a:r>
              <a:rPr lang="en-US" sz="2820">
                <a:solidFill>
                  <a:srgbClr val="1A1E2D"/>
                </a:solidFill>
                <a:latin typeface="Lazydog"/>
                <a:ea typeface="Lazydog"/>
                <a:cs typeface="Lazydog"/>
                <a:sym typeface="Lazydog"/>
              </a:rPr>
              <a:t>BACKEND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22244" y="555587"/>
            <a:ext cx="3075943" cy="3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2"/>
              </a:lnSpc>
            </a:pPr>
            <a:r>
              <a:rPr lang="en-US" sz="2818">
                <a:solidFill>
                  <a:srgbClr val="1A1E2D"/>
                </a:solidFill>
                <a:latin typeface="Lazydog"/>
                <a:ea typeface="Lazydog"/>
                <a:cs typeface="Lazydog"/>
                <a:sym typeface="Lazydog"/>
              </a:rPr>
              <a:t>bASE DE DATOS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6647" y="1206612"/>
            <a:ext cx="4655074" cy="2776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13334" indent="-156667" lvl="1">
              <a:lnSpc>
                <a:spcPts val="2031"/>
              </a:lnSpc>
              <a:buFont typeface="Arial"/>
              <a:buChar char="•"/>
            </a:pPr>
            <a:r>
              <a:rPr lang="en-US" b="true" sz="1451">
                <a:solidFill>
                  <a:srgbClr val="291C17"/>
                </a:solidFill>
                <a:latin typeface="Luciole Bold"/>
                <a:ea typeface="Luciole Bold"/>
                <a:cs typeface="Luciole Bold"/>
                <a:sym typeface="Luciole Bold"/>
              </a:rPr>
              <a:t>Riesgos</a:t>
            </a:r>
          </a:p>
          <a:p>
            <a:pPr algn="ctr" marL="313334" indent="-156667" lvl="1">
              <a:lnSpc>
                <a:spcPts val="2031"/>
              </a:lnSpc>
              <a:buFont typeface="Arial"/>
              <a:buChar char="•"/>
            </a:pPr>
            <a:r>
              <a:rPr lang="en-US" sz="1451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Inyección de código (XSS, CSRF): Los atacantes pueden inyectar scripts maliciosos en las páginas web que son ejecutados en el navegador del usuario.</a:t>
            </a:r>
          </a:p>
          <a:p>
            <a:pPr algn="ctr" marL="313334" indent="-156667" lvl="1">
              <a:lnSpc>
                <a:spcPts val="2031"/>
              </a:lnSpc>
              <a:buFont typeface="Arial"/>
              <a:buChar char="•"/>
            </a:pPr>
            <a:r>
              <a:rPr lang="en-US" sz="1451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Robo de credenciales: A través de ataques como Phishing o keyloggers.</a:t>
            </a:r>
          </a:p>
          <a:p>
            <a:pPr algn="ctr" marL="313334" indent="-156667" lvl="1">
              <a:lnSpc>
                <a:spcPts val="2031"/>
              </a:lnSpc>
              <a:spcBef>
                <a:spcPct val="0"/>
              </a:spcBef>
              <a:buFont typeface="Arial"/>
              <a:buChar char="•"/>
            </a:pPr>
            <a:r>
              <a:rPr lang="en-US" sz="1451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Acceso no autorizado a APIs: Si las APIs expuestas no están protegidas correctamente, pueden ser atacadas.</a:t>
            </a:r>
          </a:p>
          <a:p>
            <a:pPr algn="ctr">
              <a:lnSpc>
                <a:spcPts val="2031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400518" y="3805846"/>
            <a:ext cx="5018336" cy="341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0"/>
              </a:lnSpc>
            </a:pPr>
            <a:r>
              <a:rPr lang="en-US" sz="1507" b="true">
                <a:solidFill>
                  <a:srgbClr val="291C17"/>
                </a:solidFill>
                <a:latin typeface="Luciole Bold"/>
                <a:ea typeface="Luciole Bold"/>
                <a:cs typeface="Luciole Bold"/>
                <a:sym typeface="Luciole Bold"/>
              </a:rPr>
              <a:t>Medidas de seguridad</a:t>
            </a:r>
          </a:p>
          <a:p>
            <a:pPr algn="ctr" marL="650898" indent="-216966" lvl="2">
              <a:lnSpc>
                <a:spcPts val="2110"/>
              </a:lnSpc>
              <a:buFont typeface="Arial"/>
              <a:buChar char="⚬"/>
            </a:pPr>
            <a:r>
              <a:rPr lang="en-US" sz="1507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Validación y Saneamiento de Entradas: Es importante validar todas las entradas de los usuarios para prevenir ataques como XSS. </a:t>
            </a:r>
          </a:p>
          <a:p>
            <a:pPr algn="ctr" marL="650898" indent="-216966" lvl="2">
              <a:lnSpc>
                <a:spcPts val="2110"/>
              </a:lnSpc>
              <a:buFont typeface="Arial"/>
              <a:buChar char="⚬"/>
            </a:pPr>
            <a:r>
              <a:rPr lang="en-US" sz="1507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Autenticación fuerte: Implementación de Autenticación Multifactor (2FA) o usar métodos como OAuth para mejorar la seguridad en el login.</a:t>
            </a:r>
          </a:p>
          <a:p>
            <a:pPr algn="ctr" marL="650898" indent="-216966" lvl="2">
              <a:lnSpc>
                <a:spcPts val="2110"/>
              </a:lnSpc>
              <a:buFont typeface="Arial"/>
              <a:buChar char="⚬"/>
            </a:pPr>
            <a:r>
              <a:rPr lang="en-US" sz="1507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Cifrado de Comunicación (HTTPS): Asegurarse de que toda la comunicación entre el cliente y el servidor esté cifrada utilizando SSL/TLS (HTTPS).</a:t>
            </a:r>
          </a:p>
          <a:p>
            <a:pPr algn="ctr">
              <a:lnSpc>
                <a:spcPts val="211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371477" y="7475801"/>
            <a:ext cx="6727154" cy="306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291C17"/>
                </a:solidFill>
                <a:latin typeface="Luciole Bold"/>
                <a:ea typeface="Luciole Bold"/>
                <a:cs typeface="Luciole Bold"/>
                <a:sym typeface="Luciole Bold"/>
              </a:rPr>
              <a:t>Riesgos</a:t>
            </a:r>
          </a:p>
          <a:p>
            <a:pPr algn="ctr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Inyección SQL: Los atacantes pueden insertar comandos SQL maliciosos para acceder a la base de datos o manipular los datos.</a:t>
            </a:r>
          </a:p>
          <a:p>
            <a:pPr algn="ctr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Ataques DDoS: Los servidores pueden ser atacados por una gran cantidad de solicitudes, lo que puede dejarlos inaccesibles.</a:t>
            </a:r>
          </a:p>
          <a:p>
            <a:pPr algn="ctr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Acceso no autorizado a APIs o endpoints sensibles: Si no se controla adecuadamente quién tiene acceso a qué partes de la aplicación, los atacantes pueden obtener acceso a datos sensibles.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2984832" y="3694358"/>
            <a:ext cx="5266454" cy="3985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4"/>
              </a:lnSpc>
            </a:pPr>
            <a:r>
              <a:rPr lang="en-US" sz="1531" b="true">
                <a:solidFill>
                  <a:srgbClr val="291C17"/>
                </a:solidFill>
                <a:latin typeface="Luciole Bold"/>
                <a:ea typeface="Luciole Bold"/>
                <a:cs typeface="Luciole Bold"/>
                <a:sym typeface="Luciole Bold"/>
              </a:rPr>
              <a:t>Medidas de seguridad</a:t>
            </a:r>
          </a:p>
          <a:p>
            <a:pPr algn="ctr" marL="330733" indent="-165367" lvl="1">
              <a:lnSpc>
                <a:spcPts val="2144"/>
              </a:lnSpc>
              <a:buFont typeface="Arial"/>
              <a:buChar char="•"/>
            </a:pPr>
            <a:r>
              <a:rPr lang="en-US" sz="1531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Encriptación de datos: Usar encriptación tanto para los datos en tránsito (con SSL/TLS) como para los datos en reposo (cifrado de bases de datos).</a:t>
            </a:r>
          </a:p>
          <a:p>
            <a:pPr algn="ctr" marL="330733" indent="-165367" lvl="1">
              <a:lnSpc>
                <a:spcPts val="2144"/>
              </a:lnSpc>
              <a:buFont typeface="Arial"/>
              <a:buChar char="•"/>
            </a:pPr>
            <a:r>
              <a:rPr lang="en-US" sz="1531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Control de acceso a la base de datos: Implementar políticas estrictas de control de acceso a la base de datos y garantizar que solo los usuarios autorizados puedan acceder.</a:t>
            </a:r>
          </a:p>
          <a:p>
            <a:pPr algn="ctr" marL="330733" indent="-165367" lvl="1">
              <a:lnSpc>
                <a:spcPts val="2144"/>
              </a:lnSpc>
              <a:buFont typeface="Arial"/>
              <a:buChar char="•"/>
            </a:pPr>
            <a:r>
              <a:rPr lang="en-US" sz="1531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Auditoría y monitoreo: Implementar un sistema de monitoreo y auditoría para detectar accesos no autorizados o cualquier actividad sospechosa.</a:t>
            </a:r>
          </a:p>
          <a:p>
            <a:pPr algn="ctr" marL="330733" indent="-165367" lvl="1">
              <a:lnSpc>
                <a:spcPts val="2144"/>
              </a:lnSpc>
              <a:buFont typeface="Arial"/>
              <a:buChar char="•"/>
            </a:pPr>
            <a:r>
              <a:rPr lang="en-US" sz="1531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Backups seguros: Asegurarse de que las copias de seguridad de la base de datos estén cifradas y almacenadas en un lugar seguro.</a:t>
            </a:r>
          </a:p>
          <a:p>
            <a:pPr algn="ctr">
              <a:lnSpc>
                <a:spcPts val="2144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2926989" y="1164227"/>
            <a:ext cx="5382139" cy="278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291C17"/>
                </a:solidFill>
                <a:latin typeface="Luciole Bold"/>
                <a:ea typeface="Luciole Bold"/>
                <a:cs typeface="Luciole Bold"/>
                <a:sym typeface="Luciole Bold"/>
              </a:rPr>
              <a:t>Riesgos</a:t>
            </a:r>
          </a:p>
          <a:p>
            <a:pPr algn="ctr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Robo o manipulación de datos: Los atacantes pueden robar o modificar los datos almacenados.</a:t>
            </a:r>
          </a:p>
          <a:p>
            <a:pPr algn="ctr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Exposición de información sensible: Los datos personales o de pago pueden estar en riesgo si no se protegen correctamente.</a:t>
            </a:r>
          </a:p>
          <a:p>
            <a:pPr algn="ctr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Fallas en la encriptación de datos: Si los datos no están correctamente cifrados, pueden ser accesibles para personas no autorizadas.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-1900516">
            <a:off x="7916847" y="-448821"/>
            <a:ext cx="1608710" cy="1324992"/>
          </a:xfrm>
          <a:custGeom>
            <a:avLst/>
            <a:gdLst/>
            <a:ahLst/>
            <a:cxnLst/>
            <a:rect r="r" b="b" t="t" l="l"/>
            <a:pathLst>
              <a:path h="1324992" w="1608710">
                <a:moveTo>
                  <a:pt x="0" y="0"/>
                </a:moveTo>
                <a:lnTo>
                  <a:pt x="1608711" y="0"/>
                </a:lnTo>
                <a:lnTo>
                  <a:pt x="1608711" y="1324992"/>
                </a:lnTo>
                <a:lnTo>
                  <a:pt x="0" y="1324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1931038">
            <a:off x="17267488" y="-347621"/>
            <a:ext cx="974561" cy="1673066"/>
          </a:xfrm>
          <a:custGeom>
            <a:avLst/>
            <a:gdLst/>
            <a:ahLst/>
            <a:cxnLst/>
            <a:rect r="r" b="b" t="t" l="l"/>
            <a:pathLst>
              <a:path h="1673066" w="974561">
                <a:moveTo>
                  <a:pt x="974561" y="0"/>
                </a:moveTo>
                <a:lnTo>
                  <a:pt x="0" y="0"/>
                </a:lnTo>
                <a:lnTo>
                  <a:pt x="0" y="1673066"/>
                </a:lnTo>
                <a:lnTo>
                  <a:pt x="974561" y="1673066"/>
                </a:lnTo>
                <a:lnTo>
                  <a:pt x="974561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1931038">
            <a:off x="26220" y="-386691"/>
            <a:ext cx="974561" cy="1673066"/>
          </a:xfrm>
          <a:custGeom>
            <a:avLst/>
            <a:gdLst/>
            <a:ahLst/>
            <a:cxnLst/>
            <a:rect r="r" b="b" t="t" l="l"/>
            <a:pathLst>
              <a:path h="1673066" w="974561">
                <a:moveTo>
                  <a:pt x="0" y="0"/>
                </a:moveTo>
                <a:lnTo>
                  <a:pt x="974561" y="0"/>
                </a:lnTo>
                <a:lnTo>
                  <a:pt x="974561" y="1673066"/>
                </a:lnTo>
                <a:lnTo>
                  <a:pt x="0" y="167306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308142" y="7571051"/>
            <a:ext cx="8588650" cy="280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1"/>
              </a:lnSpc>
            </a:pPr>
            <a:r>
              <a:rPr lang="en-US" sz="1465" b="true">
                <a:solidFill>
                  <a:srgbClr val="291C17"/>
                </a:solidFill>
                <a:latin typeface="Luciole Bold"/>
                <a:ea typeface="Luciole Bold"/>
                <a:cs typeface="Luciole Bold"/>
                <a:sym typeface="Luciole Bold"/>
              </a:rPr>
              <a:t>Medidas de seguridad</a:t>
            </a:r>
          </a:p>
          <a:p>
            <a:pPr algn="ctr" marL="316434" indent="-158217" lvl="1">
              <a:lnSpc>
                <a:spcPts val="2051"/>
              </a:lnSpc>
              <a:buFont typeface="Arial"/>
              <a:buChar char="•"/>
            </a:pPr>
            <a:r>
              <a:rPr lang="en-US" sz="146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Consultas parametrizadas y ORM: Usar ORM (Object Relational Mapping) o consultas SQL parametrizadas para evitar la inyección SQL.</a:t>
            </a:r>
          </a:p>
          <a:p>
            <a:pPr algn="ctr" marL="316434" indent="-158217" lvl="1">
              <a:lnSpc>
                <a:spcPts val="2051"/>
              </a:lnSpc>
              <a:buFont typeface="Arial"/>
              <a:buChar char="•"/>
            </a:pPr>
            <a:r>
              <a:rPr lang="en-US" sz="146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Implementación de un firewall: Usar un firewall para proteger la red y el servidor de aplicaciones de ataques DDoS.</a:t>
            </a:r>
          </a:p>
          <a:p>
            <a:pPr algn="ctr" marL="316434" indent="-158217" lvl="1">
              <a:lnSpc>
                <a:spcPts val="2051"/>
              </a:lnSpc>
              <a:buFont typeface="Arial"/>
              <a:buChar char="•"/>
            </a:pPr>
            <a:r>
              <a:rPr lang="en-US" sz="146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Autenticación y autorización adecuada: Asegurarse de que todos los endpoints y APIs estén protegidos por un sistema robusto de autenticación y control de acceso (por ejemplo, OAuth o JWT).</a:t>
            </a:r>
          </a:p>
          <a:p>
            <a:pPr algn="ctr" marL="316434" indent="-158217" lvl="1">
              <a:lnSpc>
                <a:spcPts val="2051"/>
              </a:lnSpc>
              <a:buFont typeface="Arial"/>
              <a:buChar char="•"/>
            </a:pPr>
            <a:r>
              <a:rPr lang="en-US" sz="1465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Política de control de acceso: Aplicar el principio de menor privilegio en el acceso a la aplicación y las APIs. Solo dar permisos mínimos necesarios para cada usuario o proceso.</a:t>
            </a:r>
          </a:p>
          <a:p>
            <a:pPr algn="ctr">
              <a:lnSpc>
                <a:spcPts val="20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31038">
            <a:off x="26220" y="-386691"/>
            <a:ext cx="974561" cy="1673066"/>
          </a:xfrm>
          <a:custGeom>
            <a:avLst/>
            <a:gdLst/>
            <a:ahLst/>
            <a:cxnLst/>
            <a:rect r="r" b="b" t="t" l="l"/>
            <a:pathLst>
              <a:path h="1673066" w="974561">
                <a:moveTo>
                  <a:pt x="0" y="0"/>
                </a:moveTo>
                <a:lnTo>
                  <a:pt x="974561" y="0"/>
                </a:lnTo>
                <a:lnTo>
                  <a:pt x="974561" y="1673066"/>
                </a:lnTo>
                <a:lnTo>
                  <a:pt x="0" y="1673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223065" y="4558346"/>
            <a:ext cx="2208148" cy="220814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2955"/>
                </a:lnSpc>
              </a:pPr>
              <a:r>
                <a:rPr lang="en-US" b="true" sz="2462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Ciclo de vida del desarrrollo web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29319" y="7316392"/>
            <a:ext cx="1289104" cy="128910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723"/>
                </a:lnSpc>
              </a:pPr>
              <a:r>
                <a:rPr lang="en-US" b="true" sz="1436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Desarrollo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02719" y="6944852"/>
            <a:ext cx="1289306" cy="12893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1FC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477"/>
                </a:lnSpc>
              </a:pPr>
              <a:r>
                <a:rPr lang="en-US" b="true" sz="123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Diseño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809329" y="4121605"/>
            <a:ext cx="1685035" cy="1297107"/>
            <a:chOff x="0" y="0"/>
            <a:chExt cx="1055886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5886" cy="812800"/>
            </a:xfrm>
            <a:custGeom>
              <a:avLst/>
              <a:gdLst/>
              <a:ahLst/>
              <a:cxnLst/>
              <a:rect r="r" b="b" t="t" l="l"/>
              <a:pathLst>
                <a:path h="812800" w="1055886">
                  <a:moveTo>
                    <a:pt x="527943" y="0"/>
                  </a:moveTo>
                  <a:cubicBezTo>
                    <a:pt x="236368" y="0"/>
                    <a:pt x="0" y="181951"/>
                    <a:pt x="0" y="406400"/>
                  </a:cubicBezTo>
                  <a:cubicBezTo>
                    <a:pt x="0" y="630849"/>
                    <a:pt x="236368" y="812800"/>
                    <a:pt x="527943" y="812800"/>
                  </a:cubicBezTo>
                  <a:cubicBezTo>
                    <a:pt x="819518" y="812800"/>
                    <a:pt x="1055886" y="630849"/>
                    <a:pt x="1055886" y="406400"/>
                  </a:cubicBezTo>
                  <a:cubicBezTo>
                    <a:pt x="1055886" y="181951"/>
                    <a:pt x="819518" y="0"/>
                    <a:pt x="52794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98989" y="76200"/>
              <a:ext cx="857907" cy="660400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723"/>
                </a:lnSpc>
              </a:pPr>
              <a:r>
                <a:rPr lang="en-US" b="true" sz="1436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Planificacion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755388" y="5530276"/>
            <a:ext cx="1303814" cy="130381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592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 marL="0" indent="0" lvl="0">
                <a:lnSpc>
                  <a:spcPts val="1559"/>
                </a:lnSpc>
                <a:spcBef>
                  <a:spcPct val="0"/>
                </a:spcBef>
              </a:pPr>
              <a:r>
                <a:rPr lang="en-US" b="true" sz="12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📝 Análisis de Requisitos: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659074" y="7067587"/>
            <a:ext cx="1237536" cy="775857"/>
            <a:chOff x="0" y="0"/>
            <a:chExt cx="1296462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96462" cy="812800"/>
            </a:xfrm>
            <a:custGeom>
              <a:avLst/>
              <a:gdLst/>
              <a:ahLst/>
              <a:cxnLst/>
              <a:rect r="r" b="b" t="t" l="l"/>
              <a:pathLst>
                <a:path h="812800" w="1296462">
                  <a:moveTo>
                    <a:pt x="648231" y="0"/>
                  </a:moveTo>
                  <a:cubicBezTo>
                    <a:pt x="290223" y="0"/>
                    <a:pt x="0" y="181951"/>
                    <a:pt x="0" y="406400"/>
                  </a:cubicBezTo>
                  <a:cubicBezTo>
                    <a:pt x="0" y="630849"/>
                    <a:pt x="290223" y="812800"/>
                    <a:pt x="648231" y="812800"/>
                  </a:cubicBezTo>
                  <a:cubicBezTo>
                    <a:pt x="1006239" y="812800"/>
                    <a:pt x="1296462" y="630849"/>
                    <a:pt x="1296462" y="406400"/>
                  </a:cubicBezTo>
                  <a:cubicBezTo>
                    <a:pt x="1296462" y="181951"/>
                    <a:pt x="1006239" y="0"/>
                    <a:pt x="648231" y="0"/>
                  </a:cubicBezTo>
                  <a:close/>
                </a:path>
              </a:pathLst>
            </a:custGeom>
            <a:solidFill>
              <a:srgbClr val="FFCCD2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21543" y="66675"/>
              <a:ext cx="1053376" cy="669925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023"/>
                </a:lnSpc>
                <a:spcBef>
                  <a:spcPct val="0"/>
                </a:spcBef>
              </a:pPr>
              <a:r>
                <a:rPr lang="en-US" b="true" sz="75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Documentar funcionalidades y restricciones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057999" y="5718675"/>
            <a:ext cx="995700" cy="775857"/>
            <a:chOff x="0" y="0"/>
            <a:chExt cx="1043111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3111" cy="812800"/>
            </a:xfrm>
            <a:custGeom>
              <a:avLst/>
              <a:gdLst/>
              <a:ahLst/>
              <a:cxnLst/>
              <a:rect r="r" b="b" t="t" l="l"/>
              <a:pathLst>
                <a:path h="812800" w="1043111">
                  <a:moveTo>
                    <a:pt x="521555" y="0"/>
                  </a:moveTo>
                  <a:cubicBezTo>
                    <a:pt x="233508" y="0"/>
                    <a:pt x="0" y="181951"/>
                    <a:pt x="0" y="406400"/>
                  </a:cubicBezTo>
                  <a:cubicBezTo>
                    <a:pt x="0" y="630849"/>
                    <a:pt x="233508" y="812800"/>
                    <a:pt x="521555" y="812800"/>
                  </a:cubicBezTo>
                  <a:cubicBezTo>
                    <a:pt x="809603" y="812800"/>
                    <a:pt x="1043111" y="630849"/>
                    <a:pt x="1043111" y="406400"/>
                  </a:cubicBezTo>
                  <a:cubicBezTo>
                    <a:pt x="1043111" y="181951"/>
                    <a:pt x="809603" y="0"/>
                    <a:pt x="521555" y="0"/>
                  </a:cubicBezTo>
                  <a:close/>
                </a:path>
              </a:pathLst>
            </a:custGeom>
            <a:solidFill>
              <a:srgbClr val="FFCCD2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97792" y="66675"/>
              <a:ext cx="847528" cy="669925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023"/>
                </a:lnSpc>
                <a:spcBef>
                  <a:spcPct val="0"/>
                </a:spcBef>
              </a:pPr>
              <a:r>
                <a:rPr lang="en-US" b="true" sz="75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Identificar necesidades del usuario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688329" y="4102512"/>
            <a:ext cx="1479354" cy="775857"/>
            <a:chOff x="0" y="0"/>
            <a:chExt cx="1549795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49795" cy="812800"/>
            </a:xfrm>
            <a:custGeom>
              <a:avLst/>
              <a:gdLst/>
              <a:ahLst/>
              <a:cxnLst/>
              <a:rect r="r" b="b" t="t" l="l"/>
              <a:pathLst>
                <a:path h="812800" w="1549795">
                  <a:moveTo>
                    <a:pt x="774897" y="0"/>
                  </a:moveTo>
                  <a:cubicBezTo>
                    <a:pt x="346933" y="0"/>
                    <a:pt x="0" y="181951"/>
                    <a:pt x="0" y="406400"/>
                  </a:cubicBezTo>
                  <a:cubicBezTo>
                    <a:pt x="0" y="630849"/>
                    <a:pt x="346933" y="812800"/>
                    <a:pt x="774897" y="812800"/>
                  </a:cubicBezTo>
                  <a:cubicBezTo>
                    <a:pt x="1202861" y="812800"/>
                    <a:pt x="1549795" y="630849"/>
                    <a:pt x="1549795" y="406400"/>
                  </a:cubicBezTo>
                  <a:cubicBezTo>
                    <a:pt x="1549795" y="181951"/>
                    <a:pt x="1202861" y="0"/>
                    <a:pt x="774897" y="0"/>
                  </a:cubicBezTo>
                  <a:close/>
                </a:path>
              </a:pathLst>
            </a:custGeom>
            <a:solidFill>
              <a:srgbClr val="C2DCFD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145293" y="66675"/>
              <a:ext cx="1259208" cy="669925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023"/>
                </a:lnSpc>
                <a:spcBef>
                  <a:spcPct val="0"/>
                </a:spcBef>
              </a:pPr>
              <a:r>
                <a:rPr lang="en-US" b="true" sz="75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Definir objetivos y requisitos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76789" y="2668708"/>
            <a:ext cx="1282413" cy="775857"/>
            <a:chOff x="0" y="0"/>
            <a:chExt cx="1343476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43476" cy="812800"/>
            </a:xfrm>
            <a:custGeom>
              <a:avLst/>
              <a:gdLst/>
              <a:ahLst/>
              <a:cxnLst/>
              <a:rect r="r" b="b" t="t" l="l"/>
              <a:pathLst>
                <a:path h="812800" w="1343476">
                  <a:moveTo>
                    <a:pt x="671738" y="0"/>
                  </a:moveTo>
                  <a:cubicBezTo>
                    <a:pt x="300747" y="0"/>
                    <a:pt x="0" y="181951"/>
                    <a:pt x="0" y="406400"/>
                  </a:cubicBezTo>
                  <a:cubicBezTo>
                    <a:pt x="0" y="630849"/>
                    <a:pt x="300747" y="812800"/>
                    <a:pt x="671738" y="812800"/>
                  </a:cubicBezTo>
                  <a:cubicBezTo>
                    <a:pt x="1042729" y="812800"/>
                    <a:pt x="1343476" y="630849"/>
                    <a:pt x="1343476" y="406400"/>
                  </a:cubicBezTo>
                  <a:cubicBezTo>
                    <a:pt x="1343476" y="181951"/>
                    <a:pt x="1042729" y="0"/>
                    <a:pt x="671738" y="0"/>
                  </a:cubicBezTo>
                  <a:close/>
                </a:path>
              </a:pathLst>
            </a:custGeom>
            <a:solidFill>
              <a:srgbClr val="C2DCFD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125951" y="66675"/>
              <a:ext cx="1091574" cy="669925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023"/>
                </a:lnSpc>
                <a:spcBef>
                  <a:spcPct val="0"/>
                </a:spcBef>
              </a:pPr>
              <a:r>
                <a:rPr lang="en-US" b="true" sz="75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Estimar costos y recursos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151087" y="9511143"/>
            <a:ext cx="1239223" cy="775857"/>
            <a:chOff x="0" y="0"/>
            <a:chExt cx="129823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98230" cy="812800"/>
            </a:xfrm>
            <a:custGeom>
              <a:avLst/>
              <a:gdLst/>
              <a:ahLst/>
              <a:cxnLst/>
              <a:rect r="r" b="b" t="t" l="l"/>
              <a:pathLst>
                <a:path h="812800" w="1298230">
                  <a:moveTo>
                    <a:pt x="649115" y="0"/>
                  </a:moveTo>
                  <a:cubicBezTo>
                    <a:pt x="290619" y="0"/>
                    <a:pt x="0" y="181951"/>
                    <a:pt x="0" y="406400"/>
                  </a:cubicBezTo>
                  <a:cubicBezTo>
                    <a:pt x="0" y="630849"/>
                    <a:pt x="290619" y="812800"/>
                    <a:pt x="649115" y="812800"/>
                  </a:cubicBezTo>
                  <a:cubicBezTo>
                    <a:pt x="1007611" y="812800"/>
                    <a:pt x="1298230" y="630849"/>
                    <a:pt x="1298230" y="406400"/>
                  </a:cubicBezTo>
                  <a:cubicBezTo>
                    <a:pt x="1298230" y="181951"/>
                    <a:pt x="1007611" y="0"/>
                    <a:pt x="649115" y="0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121709" y="66675"/>
              <a:ext cx="1054812" cy="669925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023"/>
                </a:lnSpc>
                <a:spcBef>
                  <a:spcPct val="0"/>
                </a:spcBef>
              </a:pPr>
              <a:r>
                <a:rPr lang="en-US" b="true" sz="75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Integración de bases de datos y backend/frontend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865685" y="9443879"/>
            <a:ext cx="1113989" cy="775857"/>
            <a:chOff x="0" y="0"/>
            <a:chExt cx="1167032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67032" cy="812800"/>
            </a:xfrm>
            <a:custGeom>
              <a:avLst/>
              <a:gdLst/>
              <a:ahLst/>
              <a:cxnLst/>
              <a:rect r="r" b="b" t="t" l="l"/>
              <a:pathLst>
                <a:path h="812800" w="1167032">
                  <a:moveTo>
                    <a:pt x="583516" y="0"/>
                  </a:moveTo>
                  <a:cubicBezTo>
                    <a:pt x="261249" y="0"/>
                    <a:pt x="0" y="181951"/>
                    <a:pt x="0" y="406400"/>
                  </a:cubicBezTo>
                  <a:cubicBezTo>
                    <a:pt x="0" y="630849"/>
                    <a:pt x="261249" y="812800"/>
                    <a:pt x="583516" y="812800"/>
                  </a:cubicBezTo>
                  <a:cubicBezTo>
                    <a:pt x="905783" y="812800"/>
                    <a:pt x="1167032" y="630849"/>
                    <a:pt x="1167032" y="406400"/>
                  </a:cubicBezTo>
                  <a:cubicBezTo>
                    <a:pt x="1167032" y="181951"/>
                    <a:pt x="905783" y="0"/>
                    <a:pt x="583516" y="0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109409" y="66675"/>
              <a:ext cx="948214" cy="669925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023"/>
                </a:lnSpc>
                <a:spcBef>
                  <a:spcPct val="0"/>
                </a:spcBef>
              </a:pPr>
              <a:r>
                <a:rPr lang="en-US" b="true" sz="75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Programación del código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19733" y="8982563"/>
            <a:ext cx="1310552" cy="775857"/>
            <a:chOff x="0" y="0"/>
            <a:chExt cx="1372955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72955" cy="812800"/>
            </a:xfrm>
            <a:custGeom>
              <a:avLst/>
              <a:gdLst/>
              <a:ahLst/>
              <a:cxnLst/>
              <a:rect r="r" b="b" t="t" l="l"/>
              <a:pathLst>
                <a:path h="812800" w="1372955">
                  <a:moveTo>
                    <a:pt x="686478" y="0"/>
                  </a:moveTo>
                  <a:cubicBezTo>
                    <a:pt x="307347" y="0"/>
                    <a:pt x="0" y="181951"/>
                    <a:pt x="0" y="406400"/>
                  </a:cubicBezTo>
                  <a:cubicBezTo>
                    <a:pt x="0" y="630849"/>
                    <a:pt x="307347" y="812800"/>
                    <a:pt x="686478" y="812800"/>
                  </a:cubicBezTo>
                  <a:cubicBezTo>
                    <a:pt x="1065609" y="812800"/>
                    <a:pt x="1372955" y="630849"/>
                    <a:pt x="1372955" y="406400"/>
                  </a:cubicBezTo>
                  <a:cubicBezTo>
                    <a:pt x="1372955" y="181951"/>
                    <a:pt x="1065609" y="0"/>
                    <a:pt x="686478" y="0"/>
                  </a:cubicBezTo>
                  <a:close/>
                </a:path>
              </a:pathLst>
            </a:custGeom>
            <a:solidFill>
              <a:srgbClr val="D7DA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128715" y="66675"/>
              <a:ext cx="1115526" cy="669925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023"/>
                </a:lnSpc>
                <a:spcBef>
                  <a:spcPct val="0"/>
                </a:spcBef>
              </a:pPr>
              <a:r>
                <a:rPr lang="en-US" b="true" sz="75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Diseño de interfaz y experiencia de usuario (UI/UX)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107854" y="8348873"/>
            <a:ext cx="1102440" cy="775857"/>
            <a:chOff x="0" y="0"/>
            <a:chExt cx="1154934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54934" cy="812800"/>
            </a:xfrm>
            <a:custGeom>
              <a:avLst/>
              <a:gdLst/>
              <a:ahLst/>
              <a:cxnLst/>
              <a:rect r="r" b="b" t="t" l="l"/>
              <a:pathLst>
                <a:path h="812800" w="1154934">
                  <a:moveTo>
                    <a:pt x="577467" y="0"/>
                  </a:moveTo>
                  <a:cubicBezTo>
                    <a:pt x="258541" y="0"/>
                    <a:pt x="0" y="181951"/>
                    <a:pt x="0" y="406400"/>
                  </a:cubicBezTo>
                  <a:cubicBezTo>
                    <a:pt x="0" y="630849"/>
                    <a:pt x="258541" y="812800"/>
                    <a:pt x="577467" y="812800"/>
                  </a:cubicBezTo>
                  <a:cubicBezTo>
                    <a:pt x="896393" y="812800"/>
                    <a:pt x="1154934" y="630849"/>
                    <a:pt x="1154934" y="406400"/>
                  </a:cubicBezTo>
                  <a:cubicBezTo>
                    <a:pt x="1154934" y="181951"/>
                    <a:pt x="896393" y="0"/>
                    <a:pt x="577467" y="0"/>
                  </a:cubicBezTo>
                  <a:close/>
                </a:path>
              </a:pathLst>
            </a:custGeom>
            <a:solidFill>
              <a:srgbClr val="D7DA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108275" y="66675"/>
              <a:ext cx="938384" cy="669925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023"/>
                </a:lnSpc>
                <a:spcBef>
                  <a:spcPct val="0"/>
                </a:spcBef>
              </a:pPr>
              <a:r>
                <a:rPr lang="en-US" b="true" sz="75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Crear arquitectura de software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>
            <a:off x="8415993" y="5846159"/>
            <a:ext cx="1348381" cy="227533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V="true">
            <a:off x="8393744" y="4983722"/>
            <a:ext cx="1462330" cy="39245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flipH="true" flipV="true">
            <a:off x="8144170" y="6405022"/>
            <a:ext cx="826149" cy="750889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flipH="true" flipV="true">
            <a:off x="7397479" y="6764290"/>
            <a:ext cx="35327" cy="55339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>
            <a:off x="10946244" y="6549060"/>
            <a:ext cx="912413" cy="621105"/>
          </a:xfrm>
          <a:prstGeom prst="line">
            <a:avLst/>
          </a:prstGeom>
          <a:ln cap="flat" w="19050">
            <a:solidFill>
              <a:srgbClr val="FFCC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flipV="true">
            <a:off x="11477430" y="4602037"/>
            <a:ext cx="241962" cy="38105"/>
          </a:xfrm>
          <a:prstGeom prst="line">
            <a:avLst/>
          </a:prstGeom>
          <a:ln cap="flat" w="19050">
            <a:solidFill>
              <a:srgbClr val="C2DCF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10470761" y="3443270"/>
            <a:ext cx="93053" cy="681833"/>
          </a:xfrm>
          <a:prstGeom prst="line">
            <a:avLst/>
          </a:prstGeom>
          <a:ln cap="flat" w="19050">
            <a:solidFill>
              <a:srgbClr val="C2DCF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 flipH="true" flipV="true">
            <a:off x="10019733" y="7886411"/>
            <a:ext cx="1195603" cy="620205"/>
          </a:xfrm>
          <a:prstGeom prst="line">
            <a:avLst/>
          </a:prstGeom>
          <a:ln cap="flat" w="19050">
            <a:solidFill>
              <a:srgbClr val="D7DA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flipV="true">
            <a:off x="6907976" y="8567015"/>
            <a:ext cx="346005" cy="953682"/>
          </a:xfrm>
          <a:prstGeom prst="line">
            <a:avLst/>
          </a:prstGeom>
          <a:ln cap="flat" w="1905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>
            <a:off x="7938842" y="8407318"/>
            <a:ext cx="1156733" cy="1110468"/>
          </a:xfrm>
          <a:prstGeom prst="line">
            <a:avLst/>
          </a:prstGeom>
          <a:ln cap="flat" w="1905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H="true" flipV="true">
            <a:off x="9813269" y="8120329"/>
            <a:ext cx="614095" cy="890894"/>
          </a:xfrm>
          <a:prstGeom prst="line">
            <a:avLst/>
          </a:prstGeom>
          <a:ln cap="flat" w="19050">
            <a:solidFill>
              <a:srgbClr val="D7DA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flipV="true">
            <a:off x="11058806" y="6124099"/>
            <a:ext cx="999690" cy="35166"/>
          </a:xfrm>
          <a:prstGeom prst="line">
            <a:avLst/>
          </a:prstGeom>
          <a:ln cap="flat" w="19050">
            <a:solidFill>
              <a:srgbClr val="FFCC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0" y="0"/>
            <a:ext cx="4572168" cy="1538688"/>
            <a:chOff x="0" y="0"/>
            <a:chExt cx="3444743" cy="115927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44742" cy="1159271"/>
            </a:xfrm>
            <a:custGeom>
              <a:avLst/>
              <a:gdLst/>
              <a:ahLst/>
              <a:cxnLst/>
              <a:rect r="r" b="b" t="t" l="l"/>
              <a:pathLst>
                <a:path h="1159271" w="3444742">
                  <a:moveTo>
                    <a:pt x="16933" y="0"/>
                  </a:moveTo>
                  <a:lnTo>
                    <a:pt x="3427810" y="0"/>
                  </a:lnTo>
                  <a:cubicBezTo>
                    <a:pt x="3437162" y="0"/>
                    <a:pt x="3444742" y="7581"/>
                    <a:pt x="3444742" y="16933"/>
                  </a:cubicBezTo>
                  <a:lnTo>
                    <a:pt x="3444742" y="1142339"/>
                  </a:lnTo>
                  <a:cubicBezTo>
                    <a:pt x="3444742" y="1151690"/>
                    <a:pt x="3437162" y="1159271"/>
                    <a:pt x="3427810" y="1159271"/>
                  </a:cubicBezTo>
                  <a:lnTo>
                    <a:pt x="16933" y="1159271"/>
                  </a:lnTo>
                  <a:cubicBezTo>
                    <a:pt x="7581" y="1159271"/>
                    <a:pt x="0" y="1151690"/>
                    <a:pt x="0" y="1142339"/>
                  </a:cubicBezTo>
                  <a:lnTo>
                    <a:pt x="0" y="16933"/>
                  </a:lnTo>
                  <a:cubicBezTo>
                    <a:pt x="0" y="7581"/>
                    <a:pt x="7581" y="0"/>
                    <a:pt x="1693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85725"/>
              <a:ext cx="3444743" cy="1244996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5745"/>
                </a:lnSpc>
              </a:pPr>
              <a:r>
                <a:rPr lang="en-US" b="true" sz="4104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Ciclo de vida del desarrollo web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4861780" y="6525512"/>
            <a:ext cx="1289306" cy="1289306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1FC4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477"/>
                </a:lnSpc>
              </a:pPr>
              <a:r>
                <a:rPr lang="en-US" b="true" sz="123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Pruebas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flipV="true">
            <a:off x="6002956" y="6366625"/>
            <a:ext cx="473807" cy="392364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 flipV="true">
            <a:off x="5278728" y="7809863"/>
            <a:ext cx="147384" cy="1173796"/>
          </a:xfrm>
          <a:prstGeom prst="line">
            <a:avLst/>
          </a:prstGeom>
          <a:ln cap="flat" w="19050">
            <a:solidFill>
              <a:srgbClr val="C2DCF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2" id="62"/>
          <p:cNvGrpSpPr/>
          <p:nvPr/>
        </p:nvGrpSpPr>
        <p:grpSpPr>
          <a:xfrm rot="0">
            <a:off x="4588950" y="8982563"/>
            <a:ext cx="1282413" cy="775857"/>
            <a:chOff x="0" y="0"/>
            <a:chExt cx="1343476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43476" cy="812800"/>
            </a:xfrm>
            <a:custGeom>
              <a:avLst/>
              <a:gdLst/>
              <a:ahLst/>
              <a:cxnLst/>
              <a:rect r="r" b="b" t="t" l="l"/>
              <a:pathLst>
                <a:path h="812800" w="1343476">
                  <a:moveTo>
                    <a:pt x="671738" y="0"/>
                  </a:moveTo>
                  <a:cubicBezTo>
                    <a:pt x="300747" y="0"/>
                    <a:pt x="0" y="181951"/>
                    <a:pt x="0" y="406400"/>
                  </a:cubicBezTo>
                  <a:cubicBezTo>
                    <a:pt x="0" y="630849"/>
                    <a:pt x="300747" y="812800"/>
                    <a:pt x="671738" y="812800"/>
                  </a:cubicBezTo>
                  <a:cubicBezTo>
                    <a:pt x="1042729" y="812800"/>
                    <a:pt x="1343476" y="630849"/>
                    <a:pt x="1343476" y="406400"/>
                  </a:cubicBezTo>
                  <a:cubicBezTo>
                    <a:pt x="1343476" y="181951"/>
                    <a:pt x="1042729" y="0"/>
                    <a:pt x="671738" y="0"/>
                  </a:cubicBezTo>
                  <a:close/>
                </a:path>
              </a:pathLst>
            </a:custGeom>
            <a:solidFill>
              <a:srgbClr val="C2DCFD"/>
            </a:solidFill>
            <a:ln cap="sq">
              <a:noFill/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125951" y="66675"/>
              <a:ext cx="1091574" cy="669925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023"/>
                </a:lnSpc>
                <a:spcBef>
                  <a:spcPct val="0"/>
                </a:spcBef>
              </a:pPr>
              <a:r>
                <a:rPr lang="en-US" b="true" sz="75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Verificación de funcionalidad y seguridad</a:t>
              </a:r>
            </a:p>
          </p:txBody>
        </p:sp>
      </p:grpSp>
      <p:sp>
        <p:nvSpPr>
          <p:cNvPr name="AutoShape 65" id="65"/>
          <p:cNvSpPr/>
          <p:nvPr/>
        </p:nvSpPr>
        <p:spPr>
          <a:xfrm flipV="true">
            <a:off x="4132515" y="7521944"/>
            <a:ext cx="833617" cy="542749"/>
          </a:xfrm>
          <a:prstGeom prst="line">
            <a:avLst/>
          </a:prstGeom>
          <a:ln cap="flat" w="19050">
            <a:solidFill>
              <a:srgbClr val="C2DCF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6" id="66"/>
          <p:cNvGrpSpPr/>
          <p:nvPr/>
        </p:nvGrpSpPr>
        <p:grpSpPr>
          <a:xfrm rot="0">
            <a:off x="3054832" y="7960944"/>
            <a:ext cx="1282413" cy="775857"/>
            <a:chOff x="0" y="0"/>
            <a:chExt cx="1343476" cy="812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43476" cy="812800"/>
            </a:xfrm>
            <a:custGeom>
              <a:avLst/>
              <a:gdLst/>
              <a:ahLst/>
              <a:cxnLst/>
              <a:rect r="r" b="b" t="t" l="l"/>
              <a:pathLst>
                <a:path h="812800" w="1343476">
                  <a:moveTo>
                    <a:pt x="671738" y="0"/>
                  </a:moveTo>
                  <a:cubicBezTo>
                    <a:pt x="300747" y="0"/>
                    <a:pt x="0" y="181951"/>
                    <a:pt x="0" y="406400"/>
                  </a:cubicBezTo>
                  <a:cubicBezTo>
                    <a:pt x="0" y="630849"/>
                    <a:pt x="300747" y="812800"/>
                    <a:pt x="671738" y="812800"/>
                  </a:cubicBezTo>
                  <a:cubicBezTo>
                    <a:pt x="1042729" y="812800"/>
                    <a:pt x="1343476" y="630849"/>
                    <a:pt x="1343476" y="406400"/>
                  </a:cubicBezTo>
                  <a:cubicBezTo>
                    <a:pt x="1343476" y="181951"/>
                    <a:pt x="1042729" y="0"/>
                    <a:pt x="671738" y="0"/>
                  </a:cubicBezTo>
                  <a:close/>
                </a:path>
              </a:pathLst>
            </a:custGeom>
            <a:solidFill>
              <a:srgbClr val="C2DCFD"/>
            </a:solidFill>
            <a:ln cap="sq">
              <a:noFill/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125951" y="66675"/>
              <a:ext cx="1091574" cy="669925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023"/>
                </a:lnSpc>
                <a:spcBef>
                  <a:spcPct val="0"/>
                </a:spcBef>
              </a:pPr>
              <a:r>
                <a:rPr lang="en-US" b="true" sz="75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Verificación de funcionalidad y seguridad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502263" y="4414862"/>
            <a:ext cx="1303814" cy="1303814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592F"/>
            </a:solidFill>
            <a:ln cap="sq">
              <a:noFill/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 marL="0" indent="0" lvl="0">
                <a:lnSpc>
                  <a:spcPts val="1559"/>
                </a:lnSpc>
                <a:spcBef>
                  <a:spcPct val="0"/>
                </a:spcBef>
              </a:pPr>
              <a:r>
                <a:rPr lang="en-US" b="true" sz="12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Implementación y Despliegue</a:t>
              </a:r>
            </a:p>
          </p:txBody>
        </p:sp>
      </p:grpSp>
      <p:sp>
        <p:nvSpPr>
          <p:cNvPr name="AutoShape 72" id="72"/>
          <p:cNvSpPr/>
          <p:nvPr/>
        </p:nvSpPr>
        <p:spPr>
          <a:xfrm>
            <a:off x="5783041" y="5239154"/>
            <a:ext cx="479036" cy="131313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 flipH="true">
            <a:off x="4129592" y="5391811"/>
            <a:ext cx="459358" cy="264165"/>
          </a:xfrm>
          <a:prstGeom prst="line">
            <a:avLst/>
          </a:prstGeom>
          <a:ln cap="flat" w="19050">
            <a:solidFill>
              <a:srgbClr val="FFCC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4" id="74"/>
          <p:cNvGrpSpPr/>
          <p:nvPr/>
        </p:nvGrpSpPr>
        <p:grpSpPr>
          <a:xfrm rot="0">
            <a:off x="3054832" y="5530276"/>
            <a:ext cx="1237536" cy="775857"/>
            <a:chOff x="0" y="0"/>
            <a:chExt cx="1296462" cy="812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96462" cy="812800"/>
            </a:xfrm>
            <a:custGeom>
              <a:avLst/>
              <a:gdLst/>
              <a:ahLst/>
              <a:cxnLst/>
              <a:rect r="r" b="b" t="t" l="l"/>
              <a:pathLst>
                <a:path h="812800" w="1296462">
                  <a:moveTo>
                    <a:pt x="648231" y="0"/>
                  </a:moveTo>
                  <a:cubicBezTo>
                    <a:pt x="290223" y="0"/>
                    <a:pt x="0" y="181951"/>
                    <a:pt x="0" y="406400"/>
                  </a:cubicBezTo>
                  <a:cubicBezTo>
                    <a:pt x="0" y="630849"/>
                    <a:pt x="290223" y="812800"/>
                    <a:pt x="648231" y="812800"/>
                  </a:cubicBezTo>
                  <a:cubicBezTo>
                    <a:pt x="1006239" y="812800"/>
                    <a:pt x="1296462" y="630849"/>
                    <a:pt x="1296462" y="406400"/>
                  </a:cubicBezTo>
                  <a:cubicBezTo>
                    <a:pt x="1296462" y="181951"/>
                    <a:pt x="1006239" y="0"/>
                    <a:pt x="648231" y="0"/>
                  </a:cubicBezTo>
                  <a:close/>
                </a:path>
              </a:pathLst>
            </a:custGeom>
            <a:solidFill>
              <a:srgbClr val="FFCCD2"/>
            </a:solidFill>
            <a:ln cap="sq">
              <a:noFill/>
              <a:prstDash val="solid"/>
              <a:miter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121543" y="66675"/>
              <a:ext cx="1053376" cy="669925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023"/>
                </a:lnSpc>
                <a:spcBef>
                  <a:spcPct val="0"/>
                </a:spcBef>
              </a:pPr>
              <a:r>
                <a:rPr lang="en-US" b="true" sz="75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Publicación del software</a:t>
              </a:r>
            </a:p>
          </p:txBody>
        </p:sp>
      </p:grpSp>
      <p:sp>
        <p:nvSpPr>
          <p:cNvPr name="AutoShape 77" id="77"/>
          <p:cNvSpPr/>
          <p:nvPr/>
        </p:nvSpPr>
        <p:spPr>
          <a:xfrm flipH="true" flipV="true">
            <a:off x="4292368" y="4241510"/>
            <a:ext cx="390959" cy="374381"/>
          </a:xfrm>
          <a:prstGeom prst="line">
            <a:avLst/>
          </a:prstGeom>
          <a:ln cap="flat" w="19050">
            <a:solidFill>
              <a:srgbClr val="FFCC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8" id="78"/>
          <p:cNvGrpSpPr/>
          <p:nvPr/>
        </p:nvGrpSpPr>
        <p:grpSpPr>
          <a:xfrm rot="0">
            <a:off x="3334632" y="3528987"/>
            <a:ext cx="1237536" cy="775857"/>
            <a:chOff x="0" y="0"/>
            <a:chExt cx="1296462" cy="812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296462" cy="812800"/>
            </a:xfrm>
            <a:custGeom>
              <a:avLst/>
              <a:gdLst/>
              <a:ahLst/>
              <a:cxnLst/>
              <a:rect r="r" b="b" t="t" l="l"/>
              <a:pathLst>
                <a:path h="812800" w="1296462">
                  <a:moveTo>
                    <a:pt x="648231" y="0"/>
                  </a:moveTo>
                  <a:cubicBezTo>
                    <a:pt x="290223" y="0"/>
                    <a:pt x="0" y="181951"/>
                    <a:pt x="0" y="406400"/>
                  </a:cubicBezTo>
                  <a:cubicBezTo>
                    <a:pt x="0" y="630849"/>
                    <a:pt x="290223" y="812800"/>
                    <a:pt x="648231" y="812800"/>
                  </a:cubicBezTo>
                  <a:cubicBezTo>
                    <a:pt x="1006239" y="812800"/>
                    <a:pt x="1296462" y="630849"/>
                    <a:pt x="1296462" y="406400"/>
                  </a:cubicBezTo>
                  <a:cubicBezTo>
                    <a:pt x="1296462" y="181951"/>
                    <a:pt x="1006239" y="0"/>
                    <a:pt x="648231" y="0"/>
                  </a:cubicBezTo>
                  <a:close/>
                </a:path>
              </a:pathLst>
            </a:custGeom>
            <a:solidFill>
              <a:srgbClr val="FFCCD2"/>
            </a:solidFill>
            <a:ln cap="sq">
              <a:noFill/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121543" y="66675"/>
              <a:ext cx="1053376" cy="669925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023"/>
                </a:lnSpc>
                <a:spcBef>
                  <a:spcPct val="0"/>
                </a:spcBef>
              </a:pPr>
              <a:r>
                <a:rPr lang="en-US" b="true" sz="75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Configuración en servidores y hosting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552033" y="2763523"/>
            <a:ext cx="1289104" cy="1289104"/>
            <a:chOff x="0" y="0"/>
            <a:chExt cx="812800" cy="8128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1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272"/>
                </a:lnSpc>
              </a:pPr>
              <a:r>
                <a:rPr lang="en-US" b="true" sz="106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Mantenimiento y Actualización:</a:t>
              </a:r>
            </a:p>
          </p:txBody>
        </p:sp>
      </p:grpSp>
      <p:sp>
        <p:nvSpPr>
          <p:cNvPr name="AutoShape 84" id="84"/>
          <p:cNvSpPr/>
          <p:nvPr/>
        </p:nvSpPr>
        <p:spPr>
          <a:xfrm flipH="true" flipV="true">
            <a:off x="7233851" y="4051568"/>
            <a:ext cx="29454" cy="508593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 flipH="true">
            <a:off x="7766178" y="2919391"/>
            <a:ext cx="352244" cy="186732"/>
          </a:xfrm>
          <a:prstGeom prst="line">
            <a:avLst/>
          </a:prstGeom>
          <a:ln cap="flat" w="1905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>
            <a:off x="6071379" y="2884294"/>
            <a:ext cx="540723" cy="251705"/>
          </a:xfrm>
          <a:prstGeom prst="line">
            <a:avLst/>
          </a:prstGeom>
          <a:ln cap="flat" w="1905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7" id="87"/>
          <p:cNvGrpSpPr/>
          <p:nvPr/>
        </p:nvGrpSpPr>
        <p:grpSpPr>
          <a:xfrm rot="0">
            <a:off x="7971691" y="2280779"/>
            <a:ext cx="1239223" cy="775857"/>
            <a:chOff x="0" y="0"/>
            <a:chExt cx="1298230" cy="8128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298230" cy="812800"/>
            </a:xfrm>
            <a:custGeom>
              <a:avLst/>
              <a:gdLst/>
              <a:ahLst/>
              <a:cxnLst/>
              <a:rect r="r" b="b" t="t" l="l"/>
              <a:pathLst>
                <a:path h="812800" w="1298230">
                  <a:moveTo>
                    <a:pt x="649115" y="0"/>
                  </a:moveTo>
                  <a:cubicBezTo>
                    <a:pt x="290619" y="0"/>
                    <a:pt x="0" y="181951"/>
                    <a:pt x="0" y="406400"/>
                  </a:cubicBezTo>
                  <a:cubicBezTo>
                    <a:pt x="0" y="630849"/>
                    <a:pt x="290619" y="812800"/>
                    <a:pt x="649115" y="812800"/>
                  </a:cubicBezTo>
                  <a:cubicBezTo>
                    <a:pt x="1007611" y="812800"/>
                    <a:pt x="1298230" y="630849"/>
                    <a:pt x="1298230" y="406400"/>
                  </a:cubicBezTo>
                  <a:cubicBezTo>
                    <a:pt x="1298230" y="181951"/>
                    <a:pt x="1007611" y="0"/>
                    <a:pt x="649115" y="0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121709" y="66675"/>
              <a:ext cx="1054812" cy="669925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023"/>
                </a:lnSpc>
                <a:spcBef>
                  <a:spcPct val="0"/>
                </a:spcBef>
              </a:pPr>
              <a:r>
                <a:rPr lang="en-US" b="true" sz="75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Corrección de errores en producción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5051253" y="2280779"/>
            <a:ext cx="1113989" cy="775857"/>
            <a:chOff x="0" y="0"/>
            <a:chExt cx="1167032" cy="8128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67032" cy="812800"/>
            </a:xfrm>
            <a:custGeom>
              <a:avLst/>
              <a:gdLst/>
              <a:ahLst/>
              <a:cxnLst/>
              <a:rect r="r" b="b" t="t" l="l"/>
              <a:pathLst>
                <a:path h="812800" w="1167032">
                  <a:moveTo>
                    <a:pt x="583516" y="0"/>
                  </a:moveTo>
                  <a:cubicBezTo>
                    <a:pt x="261249" y="0"/>
                    <a:pt x="0" y="181951"/>
                    <a:pt x="0" y="406400"/>
                  </a:cubicBezTo>
                  <a:cubicBezTo>
                    <a:pt x="0" y="630849"/>
                    <a:pt x="261249" y="812800"/>
                    <a:pt x="583516" y="812800"/>
                  </a:cubicBezTo>
                  <a:cubicBezTo>
                    <a:pt x="905783" y="812800"/>
                    <a:pt x="1167032" y="630849"/>
                    <a:pt x="1167032" y="406400"/>
                  </a:cubicBezTo>
                  <a:cubicBezTo>
                    <a:pt x="1167032" y="181951"/>
                    <a:pt x="905783" y="0"/>
                    <a:pt x="583516" y="0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109409" y="66675"/>
              <a:ext cx="948214" cy="669925"/>
            </a:xfrm>
            <a:prstGeom prst="rect">
              <a:avLst/>
            </a:prstGeom>
          </p:spPr>
          <p:txBody>
            <a:bodyPr anchor="ctr" rtlCol="false" tIns="17375" lIns="17375" bIns="17375" rIns="17375"/>
            <a:lstStyle/>
            <a:p>
              <a:pPr algn="ctr">
                <a:lnSpc>
                  <a:spcPts val="1023"/>
                </a:lnSpc>
              </a:pPr>
              <a:r>
                <a:rPr lang="en-US" sz="752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Agregar nuevas funciones y mejoras</a:t>
              </a:r>
            </a:p>
            <a:p>
              <a:pPr algn="ctr">
                <a:lnSpc>
                  <a:spcPts val="1023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00516">
            <a:off x="-652548" y="2415428"/>
            <a:ext cx="1608710" cy="1324992"/>
          </a:xfrm>
          <a:custGeom>
            <a:avLst/>
            <a:gdLst/>
            <a:ahLst/>
            <a:cxnLst/>
            <a:rect r="r" b="b" t="t" l="l"/>
            <a:pathLst>
              <a:path h="1324992" w="1608710">
                <a:moveTo>
                  <a:pt x="0" y="0"/>
                </a:moveTo>
                <a:lnTo>
                  <a:pt x="1608710" y="0"/>
                </a:lnTo>
                <a:lnTo>
                  <a:pt x="1608710" y="1324993"/>
                </a:lnTo>
                <a:lnTo>
                  <a:pt x="0" y="1324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931038">
            <a:off x="17740425" y="6229992"/>
            <a:ext cx="974561" cy="1673066"/>
          </a:xfrm>
          <a:custGeom>
            <a:avLst/>
            <a:gdLst/>
            <a:ahLst/>
            <a:cxnLst/>
            <a:rect r="r" b="b" t="t" l="l"/>
            <a:pathLst>
              <a:path h="1673066" w="974561">
                <a:moveTo>
                  <a:pt x="974561" y="0"/>
                </a:moveTo>
                <a:lnTo>
                  <a:pt x="0" y="0"/>
                </a:lnTo>
                <a:lnTo>
                  <a:pt x="0" y="1673067"/>
                </a:lnTo>
                <a:lnTo>
                  <a:pt x="974561" y="1673067"/>
                </a:lnTo>
                <a:lnTo>
                  <a:pt x="9745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03628" y="8034064"/>
            <a:ext cx="3110544" cy="2468994"/>
          </a:xfrm>
          <a:custGeom>
            <a:avLst/>
            <a:gdLst/>
            <a:ahLst/>
            <a:cxnLst/>
            <a:rect r="r" b="b" t="t" l="l"/>
            <a:pathLst>
              <a:path h="2468994" w="3110544">
                <a:moveTo>
                  <a:pt x="0" y="0"/>
                </a:moveTo>
                <a:lnTo>
                  <a:pt x="3110544" y="0"/>
                </a:lnTo>
                <a:lnTo>
                  <a:pt x="3110544" y="2468994"/>
                </a:lnTo>
                <a:lnTo>
                  <a:pt x="0" y="24689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22208" y="7762454"/>
            <a:ext cx="2915020" cy="2586417"/>
          </a:xfrm>
          <a:custGeom>
            <a:avLst/>
            <a:gdLst/>
            <a:ahLst/>
            <a:cxnLst/>
            <a:rect r="r" b="b" t="t" l="l"/>
            <a:pathLst>
              <a:path h="2586417" w="2915020">
                <a:moveTo>
                  <a:pt x="0" y="0"/>
                </a:moveTo>
                <a:lnTo>
                  <a:pt x="2915019" y="0"/>
                </a:lnTo>
                <a:lnTo>
                  <a:pt x="2915019" y="2586417"/>
                </a:lnTo>
                <a:lnTo>
                  <a:pt x="0" y="25864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696461">
            <a:off x="-744251" y="4465389"/>
            <a:ext cx="1873062" cy="2064497"/>
          </a:xfrm>
          <a:custGeom>
            <a:avLst/>
            <a:gdLst/>
            <a:ahLst/>
            <a:cxnLst/>
            <a:rect r="r" b="b" t="t" l="l"/>
            <a:pathLst>
              <a:path h="2064497" w="1873062">
                <a:moveTo>
                  <a:pt x="1873062" y="0"/>
                </a:moveTo>
                <a:lnTo>
                  <a:pt x="0" y="0"/>
                </a:lnTo>
                <a:lnTo>
                  <a:pt x="0" y="2064498"/>
                </a:lnTo>
                <a:lnTo>
                  <a:pt x="1873062" y="2064498"/>
                </a:lnTo>
                <a:lnTo>
                  <a:pt x="187306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1541" y="1741231"/>
            <a:ext cx="3996248" cy="1017227"/>
          </a:xfrm>
          <a:custGeom>
            <a:avLst/>
            <a:gdLst/>
            <a:ahLst/>
            <a:cxnLst/>
            <a:rect r="r" b="b" t="t" l="l"/>
            <a:pathLst>
              <a:path h="1017227" w="3996248">
                <a:moveTo>
                  <a:pt x="0" y="0"/>
                </a:moveTo>
                <a:lnTo>
                  <a:pt x="3996248" y="0"/>
                </a:lnTo>
                <a:lnTo>
                  <a:pt x="3996248" y="1017226"/>
                </a:lnTo>
                <a:lnTo>
                  <a:pt x="0" y="10172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5436444"/>
            <a:ext cx="3996248" cy="1017227"/>
          </a:xfrm>
          <a:custGeom>
            <a:avLst/>
            <a:gdLst/>
            <a:ahLst/>
            <a:cxnLst/>
            <a:rect r="r" b="b" t="t" l="l"/>
            <a:pathLst>
              <a:path h="1017227" w="3996248">
                <a:moveTo>
                  <a:pt x="0" y="0"/>
                </a:moveTo>
                <a:lnTo>
                  <a:pt x="3996248" y="0"/>
                </a:lnTo>
                <a:lnTo>
                  <a:pt x="3996248" y="1017227"/>
                </a:lnTo>
                <a:lnTo>
                  <a:pt x="0" y="101722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145876" y="6496675"/>
            <a:ext cx="3996248" cy="1017227"/>
          </a:xfrm>
          <a:custGeom>
            <a:avLst/>
            <a:gdLst/>
            <a:ahLst/>
            <a:cxnLst/>
            <a:rect r="r" b="b" t="t" l="l"/>
            <a:pathLst>
              <a:path h="1017227" w="3996248">
                <a:moveTo>
                  <a:pt x="0" y="0"/>
                </a:moveTo>
                <a:lnTo>
                  <a:pt x="3996248" y="0"/>
                </a:lnTo>
                <a:lnTo>
                  <a:pt x="3996248" y="1017226"/>
                </a:lnTo>
                <a:lnTo>
                  <a:pt x="0" y="101722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3240001">
            <a:off x="16893161" y="4046875"/>
            <a:ext cx="1723215" cy="2038212"/>
          </a:xfrm>
          <a:custGeom>
            <a:avLst/>
            <a:gdLst/>
            <a:ahLst/>
            <a:cxnLst/>
            <a:rect r="r" b="b" t="t" l="l"/>
            <a:pathLst>
              <a:path h="2038212" w="1723215">
                <a:moveTo>
                  <a:pt x="0" y="0"/>
                </a:moveTo>
                <a:lnTo>
                  <a:pt x="1723215" y="0"/>
                </a:lnTo>
                <a:lnTo>
                  <a:pt x="1723215" y="2038211"/>
                </a:lnTo>
                <a:lnTo>
                  <a:pt x="0" y="203821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87765" y="1780300"/>
            <a:ext cx="3996248" cy="1017227"/>
          </a:xfrm>
          <a:custGeom>
            <a:avLst/>
            <a:gdLst/>
            <a:ahLst/>
            <a:cxnLst/>
            <a:rect r="r" b="b" t="t" l="l"/>
            <a:pathLst>
              <a:path h="1017227" w="3996248">
                <a:moveTo>
                  <a:pt x="0" y="0"/>
                </a:moveTo>
                <a:lnTo>
                  <a:pt x="3996248" y="0"/>
                </a:lnTo>
                <a:lnTo>
                  <a:pt x="3996248" y="1017227"/>
                </a:lnTo>
                <a:lnTo>
                  <a:pt x="0" y="101722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418854" y="1441917"/>
            <a:ext cx="7450293" cy="4619181"/>
          </a:xfrm>
          <a:custGeom>
            <a:avLst/>
            <a:gdLst/>
            <a:ahLst/>
            <a:cxnLst/>
            <a:rect r="r" b="b" t="t" l="l"/>
            <a:pathLst>
              <a:path h="4619181" w="7450293">
                <a:moveTo>
                  <a:pt x="0" y="0"/>
                </a:moveTo>
                <a:lnTo>
                  <a:pt x="7450292" y="0"/>
                </a:lnTo>
                <a:lnTo>
                  <a:pt x="7450292" y="4619182"/>
                </a:lnTo>
                <a:lnTo>
                  <a:pt x="0" y="461918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642113" y="1842748"/>
            <a:ext cx="2971328" cy="1080483"/>
          </a:xfrm>
          <a:custGeom>
            <a:avLst/>
            <a:gdLst/>
            <a:ahLst/>
            <a:cxnLst/>
            <a:rect r="r" b="b" t="t" l="l"/>
            <a:pathLst>
              <a:path h="1080483" w="2971328">
                <a:moveTo>
                  <a:pt x="0" y="0"/>
                </a:moveTo>
                <a:lnTo>
                  <a:pt x="2971328" y="0"/>
                </a:lnTo>
                <a:lnTo>
                  <a:pt x="2971328" y="1080484"/>
                </a:lnTo>
                <a:lnTo>
                  <a:pt x="0" y="108048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246429" y="4377364"/>
            <a:ext cx="1059191" cy="1034155"/>
          </a:xfrm>
          <a:custGeom>
            <a:avLst/>
            <a:gdLst/>
            <a:ahLst/>
            <a:cxnLst/>
            <a:rect r="r" b="b" t="t" l="l"/>
            <a:pathLst>
              <a:path h="1034155" w="1059191">
                <a:moveTo>
                  <a:pt x="0" y="0"/>
                </a:moveTo>
                <a:lnTo>
                  <a:pt x="1059191" y="0"/>
                </a:lnTo>
                <a:lnTo>
                  <a:pt x="1059191" y="1034155"/>
                </a:lnTo>
                <a:lnTo>
                  <a:pt x="0" y="103415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142124" y="1972842"/>
            <a:ext cx="1059191" cy="1034155"/>
          </a:xfrm>
          <a:custGeom>
            <a:avLst/>
            <a:gdLst/>
            <a:ahLst/>
            <a:cxnLst/>
            <a:rect r="r" b="b" t="t" l="l"/>
            <a:pathLst>
              <a:path h="1034155" w="1059191">
                <a:moveTo>
                  <a:pt x="0" y="0"/>
                </a:moveTo>
                <a:lnTo>
                  <a:pt x="1059191" y="0"/>
                </a:lnTo>
                <a:lnTo>
                  <a:pt x="1059191" y="1034155"/>
                </a:lnTo>
                <a:lnTo>
                  <a:pt x="0" y="103415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963272" y="4508445"/>
            <a:ext cx="2127755" cy="700225"/>
          </a:xfrm>
          <a:custGeom>
            <a:avLst/>
            <a:gdLst/>
            <a:ahLst/>
            <a:cxnLst/>
            <a:rect r="r" b="b" t="t" l="l"/>
            <a:pathLst>
              <a:path h="700225" w="2127755">
                <a:moveTo>
                  <a:pt x="0" y="0"/>
                </a:moveTo>
                <a:lnTo>
                  <a:pt x="2127755" y="0"/>
                </a:lnTo>
                <a:lnTo>
                  <a:pt x="2127755" y="700225"/>
                </a:lnTo>
                <a:lnTo>
                  <a:pt x="0" y="70022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2302383">
            <a:off x="3796520" y="550030"/>
            <a:ext cx="1612348" cy="1193138"/>
          </a:xfrm>
          <a:custGeom>
            <a:avLst/>
            <a:gdLst/>
            <a:ahLst/>
            <a:cxnLst/>
            <a:rect r="r" b="b" t="t" l="l"/>
            <a:pathLst>
              <a:path h="1193138" w="1612348">
                <a:moveTo>
                  <a:pt x="0" y="0"/>
                </a:moveTo>
                <a:lnTo>
                  <a:pt x="1612348" y="0"/>
                </a:lnTo>
                <a:lnTo>
                  <a:pt x="1612348" y="1193138"/>
                </a:lnTo>
                <a:lnTo>
                  <a:pt x="0" y="119313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2576275">
            <a:off x="3651839" y="4416434"/>
            <a:ext cx="1583545" cy="1171824"/>
          </a:xfrm>
          <a:custGeom>
            <a:avLst/>
            <a:gdLst/>
            <a:ahLst/>
            <a:cxnLst/>
            <a:rect r="r" b="b" t="t" l="l"/>
            <a:pathLst>
              <a:path h="1171824" w="1583545">
                <a:moveTo>
                  <a:pt x="0" y="0"/>
                </a:moveTo>
                <a:lnTo>
                  <a:pt x="1583546" y="0"/>
                </a:lnTo>
                <a:lnTo>
                  <a:pt x="1583546" y="1171824"/>
                </a:lnTo>
                <a:lnTo>
                  <a:pt x="0" y="1171824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-1905263">
            <a:off x="12893462" y="613943"/>
            <a:ext cx="1583545" cy="1171824"/>
          </a:xfrm>
          <a:custGeom>
            <a:avLst/>
            <a:gdLst/>
            <a:ahLst/>
            <a:cxnLst/>
            <a:rect r="r" b="b" t="t" l="l"/>
            <a:pathLst>
              <a:path h="1171824" w="1583545">
                <a:moveTo>
                  <a:pt x="1583546" y="0"/>
                </a:moveTo>
                <a:lnTo>
                  <a:pt x="0" y="0"/>
                </a:lnTo>
                <a:lnTo>
                  <a:pt x="0" y="1171824"/>
                </a:lnTo>
                <a:lnTo>
                  <a:pt x="1583546" y="1171824"/>
                </a:lnTo>
                <a:lnTo>
                  <a:pt x="1583546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7980513">
            <a:off x="11014037" y="6419376"/>
            <a:ext cx="1583545" cy="1171824"/>
          </a:xfrm>
          <a:custGeom>
            <a:avLst/>
            <a:gdLst/>
            <a:ahLst/>
            <a:cxnLst/>
            <a:rect r="r" b="b" t="t" l="l"/>
            <a:pathLst>
              <a:path h="1171824" w="1583545">
                <a:moveTo>
                  <a:pt x="0" y="0"/>
                </a:moveTo>
                <a:lnTo>
                  <a:pt x="1583545" y="0"/>
                </a:lnTo>
                <a:lnTo>
                  <a:pt x="1583545" y="1171824"/>
                </a:lnTo>
                <a:lnTo>
                  <a:pt x="0" y="1171824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-7346402">
            <a:off x="5695831" y="6340895"/>
            <a:ext cx="1583545" cy="1171824"/>
          </a:xfrm>
          <a:custGeom>
            <a:avLst/>
            <a:gdLst/>
            <a:ahLst/>
            <a:cxnLst/>
            <a:rect r="r" b="b" t="t" l="l"/>
            <a:pathLst>
              <a:path h="1171824" w="1583545">
                <a:moveTo>
                  <a:pt x="1583546" y="0"/>
                </a:moveTo>
                <a:lnTo>
                  <a:pt x="0" y="0"/>
                </a:lnTo>
                <a:lnTo>
                  <a:pt x="0" y="1171823"/>
                </a:lnTo>
                <a:lnTo>
                  <a:pt x="1583546" y="1171823"/>
                </a:lnTo>
                <a:lnTo>
                  <a:pt x="1583546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191253" y="2876053"/>
            <a:ext cx="5905495" cy="140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39"/>
              </a:lnSpc>
            </a:pPr>
            <a:r>
              <a:rPr lang="en-US" sz="8242">
                <a:solidFill>
                  <a:srgbClr val="1A1E2D"/>
                </a:solidFill>
                <a:latin typeface="Fredoka"/>
                <a:ea typeface="Fredoka"/>
                <a:cs typeface="Fredoka"/>
                <a:sym typeface="Fredoka"/>
              </a:rPr>
              <a:t>SDLC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1680" y="2104454"/>
            <a:ext cx="3355970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4"/>
              </a:lnSpc>
            </a:pPr>
            <a:r>
              <a:rPr lang="en-US" sz="2820">
                <a:solidFill>
                  <a:srgbClr val="1A1E2D"/>
                </a:solidFill>
                <a:latin typeface="Lazydog"/>
                <a:ea typeface="Lazydog"/>
                <a:cs typeface="Lazydog"/>
                <a:sym typeface="Lazydog"/>
              </a:rPr>
              <a:t>¿QUE ES?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7355" y="5799668"/>
            <a:ext cx="3355970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4"/>
              </a:lnSpc>
            </a:pPr>
            <a:r>
              <a:rPr lang="en-US" sz="2820">
                <a:solidFill>
                  <a:srgbClr val="1A1E2D"/>
                </a:solidFill>
                <a:latin typeface="Lazydog"/>
                <a:ea typeface="Lazydog"/>
                <a:cs typeface="Lazydog"/>
                <a:sym typeface="Lazydog"/>
              </a:rPr>
              <a:t>FASES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06806" y="6899299"/>
            <a:ext cx="3778763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4"/>
              </a:lnSpc>
            </a:pPr>
            <a:r>
              <a:rPr lang="en-US" sz="2820">
                <a:solidFill>
                  <a:srgbClr val="1A1E2D"/>
                </a:solidFill>
                <a:latin typeface="Lazydog"/>
                <a:ea typeface="Lazydog"/>
                <a:cs typeface="Lazydog"/>
                <a:sym typeface="Lazydog"/>
              </a:rPr>
              <a:t>MODELOS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47918" y="1982462"/>
            <a:ext cx="3075943" cy="3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2"/>
              </a:lnSpc>
            </a:pPr>
            <a:r>
              <a:rPr lang="en-US" sz="2818">
                <a:solidFill>
                  <a:srgbClr val="1A1E2D"/>
                </a:solidFill>
                <a:latin typeface="Lazydog"/>
                <a:ea typeface="Lazydog"/>
                <a:cs typeface="Lazydog"/>
                <a:sym typeface="Lazydog"/>
              </a:rPr>
              <a:t>Factores Clave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4382" y="3014591"/>
            <a:ext cx="3910566" cy="1407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El ciclo de vida del Desarrollo de Software es un proceso estructurado que define las etapas para planificar, desarrollar, probar,implementar y mantener un software de calidad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2280" y="6665135"/>
            <a:ext cx="5715346" cy="334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1️⃣ Planificación → Definir objetivos, alcance y costos del proyecto.</a:t>
            </a:r>
          </a:p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2️⃣ Análisis de Requisitos → Identificar necesidades funcionales y no funcionales.</a:t>
            </a:r>
          </a:p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3️⃣ Diseño → Crear la arquitectura del software y su interfaz.</a:t>
            </a:r>
          </a:p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4️⃣ Desarrollo (Codificación) → Programar el software.</a:t>
            </a:r>
          </a:p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5️⃣ Pruebas → Verificar que funcione correctamente y sin errores.</a:t>
            </a:r>
          </a:p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6️⃣ Implementación → Desplegarlo en un entorno real.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7️⃣ Mantenimiento → Corregir errores y actualizar el sistema.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290898" y="7830820"/>
            <a:ext cx="6153583" cy="195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✔ Cascada → Fases lineales, se completa una antes de pasar a la siguiente.</a:t>
            </a:r>
          </a:p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✔ Ágil → Desarrollo en iteraciones rápidas con retroalimentación constante.</a:t>
            </a:r>
          </a:p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✔ Espiral → Se combina desarrollo con evaluación de riesgos.</a:t>
            </a:r>
          </a:p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✔ V-Model → Relaciona cada fase con su respectiva prueba.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✔ DevOps → Integración continua y despliegue automático.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230606" y="3053660"/>
            <a:ext cx="3910566" cy="168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Seguridad en el software</a:t>
            </a:r>
          </a:p>
          <a:p>
            <a:pPr algn="ctr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Gestión de riesgos</a:t>
            </a:r>
          </a:p>
          <a:p>
            <a:pPr algn="ctr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Herramientas de desarrollo (Git, Docker, Jenkins)</a:t>
            </a:r>
          </a:p>
          <a:p>
            <a:pPr algn="ctr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91C17"/>
                </a:solidFill>
                <a:latin typeface="Luciole"/>
                <a:ea typeface="Luciole"/>
                <a:cs typeface="Luciole"/>
                <a:sym typeface="Luciole"/>
              </a:rPr>
              <a:t>Control de calidad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Freeform 31" id="31"/>
          <p:cNvSpPr/>
          <p:nvPr/>
        </p:nvSpPr>
        <p:spPr>
          <a:xfrm flipH="false" flipV="false" rot="-1900516">
            <a:off x="7916847" y="-448821"/>
            <a:ext cx="1608710" cy="1324992"/>
          </a:xfrm>
          <a:custGeom>
            <a:avLst/>
            <a:gdLst/>
            <a:ahLst/>
            <a:cxnLst/>
            <a:rect r="r" b="b" t="t" l="l"/>
            <a:pathLst>
              <a:path h="1324992" w="1608710">
                <a:moveTo>
                  <a:pt x="0" y="0"/>
                </a:moveTo>
                <a:lnTo>
                  <a:pt x="1608711" y="0"/>
                </a:lnTo>
                <a:lnTo>
                  <a:pt x="1608711" y="1324992"/>
                </a:lnTo>
                <a:lnTo>
                  <a:pt x="0" y="1324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true" flipV="false" rot="1931038">
            <a:off x="17267488" y="-347621"/>
            <a:ext cx="974561" cy="1673066"/>
          </a:xfrm>
          <a:custGeom>
            <a:avLst/>
            <a:gdLst/>
            <a:ahLst/>
            <a:cxnLst/>
            <a:rect r="r" b="b" t="t" l="l"/>
            <a:pathLst>
              <a:path h="1673066" w="974561">
                <a:moveTo>
                  <a:pt x="974561" y="0"/>
                </a:moveTo>
                <a:lnTo>
                  <a:pt x="0" y="0"/>
                </a:lnTo>
                <a:lnTo>
                  <a:pt x="0" y="1673066"/>
                </a:lnTo>
                <a:lnTo>
                  <a:pt x="974561" y="1673066"/>
                </a:lnTo>
                <a:lnTo>
                  <a:pt x="9745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1931038">
            <a:off x="26220" y="-386691"/>
            <a:ext cx="974561" cy="1673066"/>
          </a:xfrm>
          <a:custGeom>
            <a:avLst/>
            <a:gdLst/>
            <a:ahLst/>
            <a:cxnLst/>
            <a:rect r="r" b="b" t="t" l="l"/>
            <a:pathLst>
              <a:path h="1673066" w="974561">
                <a:moveTo>
                  <a:pt x="0" y="0"/>
                </a:moveTo>
                <a:lnTo>
                  <a:pt x="974561" y="0"/>
                </a:lnTo>
                <a:lnTo>
                  <a:pt x="974561" y="1673066"/>
                </a:lnTo>
                <a:lnTo>
                  <a:pt x="0" y="1673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01355" y="596826"/>
            <a:ext cx="4185763" cy="2950524"/>
          </a:xfrm>
          <a:custGeom>
            <a:avLst/>
            <a:gdLst/>
            <a:ahLst/>
            <a:cxnLst/>
            <a:rect r="r" b="b" t="t" l="l"/>
            <a:pathLst>
              <a:path h="2950524" w="4185763">
                <a:moveTo>
                  <a:pt x="0" y="0"/>
                </a:moveTo>
                <a:lnTo>
                  <a:pt x="4185764" y="0"/>
                </a:lnTo>
                <a:lnTo>
                  <a:pt x="4185764" y="2950525"/>
                </a:lnTo>
                <a:lnTo>
                  <a:pt x="0" y="2950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07964" y="503987"/>
            <a:ext cx="4198557" cy="2959542"/>
          </a:xfrm>
          <a:custGeom>
            <a:avLst/>
            <a:gdLst/>
            <a:ahLst/>
            <a:cxnLst/>
            <a:rect r="r" b="b" t="t" l="l"/>
            <a:pathLst>
              <a:path h="2959542" w="4198557">
                <a:moveTo>
                  <a:pt x="0" y="0"/>
                </a:moveTo>
                <a:lnTo>
                  <a:pt x="4198557" y="0"/>
                </a:lnTo>
                <a:lnTo>
                  <a:pt x="4198557" y="2959542"/>
                </a:lnTo>
                <a:lnTo>
                  <a:pt x="0" y="29595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02653" y="6498674"/>
            <a:ext cx="4198557" cy="2959542"/>
          </a:xfrm>
          <a:custGeom>
            <a:avLst/>
            <a:gdLst/>
            <a:ahLst/>
            <a:cxnLst/>
            <a:rect r="r" b="b" t="t" l="l"/>
            <a:pathLst>
              <a:path h="2959542" w="4198557">
                <a:moveTo>
                  <a:pt x="0" y="0"/>
                </a:moveTo>
                <a:lnTo>
                  <a:pt x="4198557" y="0"/>
                </a:lnTo>
                <a:lnTo>
                  <a:pt x="4198557" y="2959542"/>
                </a:lnTo>
                <a:lnTo>
                  <a:pt x="0" y="29595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5305" y="6498674"/>
            <a:ext cx="4198557" cy="2959542"/>
          </a:xfrm>
          <a:custGeom>
            <a:avLst/>
            <a:gdLst/>
            <a:ahLst/>
            <a:cxnLst/>
            <a:rect r="r" b="b" t="t" l="l"/>
            <a:pathLst>
              <a:path h="2959542" w="4198557">
                <a:moveTo>
                  <a:pt x="0" y="0"/>
                </a:moveTo>
                <a:lnTo>
                  <a:pt x="4198557" y="0"/>
                </a:lnTo>
                <a:lnTo>
                  <a:pt x="4198557" y="2959542"/>
                </a:lnTo>
                <a:lnTo>
                  <a:pt x="0" y="29595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61521" y="4136643"/>
            <a:ext cx="4538862" cy="84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8"/>
              </a:lnSpc>
            </a:pPr>
            <a:r>
              <a:rPr lang="en-US" sz="5086" spc="61">
                <a:solidFill>
                  <a:srgbClr val="9B94C8"/>
                </a:solidFill>
                <a:latin typeface="Scripter"/>
                <a:ea typeface="Scripter"/>
                <a:cs typeface="Scripter"/>
                <a:sym typeface="Scripter"/>
              </a:rPr>
              <a:t>CONTENEDORES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53569" y="4923492"/>
            <a:ext cx="4453444" cy="121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737" spc="44">
                <a:solidFill>
                  <a:srgbClr val="74BACF"/>
                </a:solidFill>
                <a:latin typeface="Scripter"/>
                <a:ea typeface="Scripter"/>
                <a:cs typeface="Scripter"/>
                <a:sym typeface="Scripter"/>
              </a:rPr>
              <a:t>EN DESARROLLO DE APLICACIONES WEB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944858">
            <a:off x="624184" y="9098183"/>
            <a:ext cx="2349508" cy="1603539"/>
          </a:xfrm>
          <a:custGeom>
            <a:avLst/>
            <a:gdLst/>
            <a:ahLst/>
            <a:cxnLst/>
            <a:rect r="r" b="b" t="t" l="l"/>
            <a:pathLst>
              <a:path h="1603539" w="2349508">
                <a:moveTo>
                  <a:pt x="0" y="0"/>
                </a:moveTo>
                <a:lnTo>
                  <a:pt x="2349509" y="0"/>
                </a:lnTo>
                <a:lnTo>
                  <a:pt x="2349509" y="1603539"/>
                </a:lnTo>
                <a:lnTo>
                  <a:pt x="0" y="16035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52837" y="304783"/>
            <a:ext cx="2020064" cy="2596771"/>
          </a:xfrm>
          <a:custGeom>
            <a:avLst/>
            <a:gdLst/>
            <a:ahLst/>
            <a:cxnLst/>
            <a:rect r="r" b="b" t="t" l="l"/>
            <a:pathLst>
              <a:path h="2596771" w="2020064">
                <a:moveTo>
                  <a:pt x="0" y="0"/>
                </a:moveTo>
                <a:lnTo>
                  <a:pt x="2020064" y="0"/>
                </a:lnTo>
                <a:lnTo>
                  <a:pt x="2020064" y="2596771"/>
                </a:lnTo>
                <a:lnTo>
                  <a:pt x="0" y="25967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18668" y="901530"/>
            <a:ext cx="2187750" cy="1942306"/>
          </a:xfrm>
          <a:custGeom>
            <a:avLst/>
            <a:gdLst/>
            <a:ahLst/>
            <a:cxnLst/>
            <a:rect r="r" b="b" t="t" l="l"/>
            <a:pathLst>
              <a:path h="1942306" w="2187750">
                <a:moveTo>
                  <a:pt x="0" y="0"/>
                </a:moveTo>
                <a:lnTo>
                  <a:pt x="2187750" y="0"/>
                </a:lnTo>
                <a:lnTo>
                  <a:pt x="2187750" y="1942306"/>
                </a:lnTo>
                <a:lnTo>
                  <a:pt x="0" y="19423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49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2622226">
            <a:off x="6543321" y="3405364"/>
            <a:ext cx="749708" cy="364545"/>
          </a:xfrm>
          <a:custGeom>
            <a:avLst/>
            <a:gdLst/>
            <a:ahLst/>
            <a:cxnLst/>
            <a:rect r="r" b="b" t="t" l="l"/>
            <a:pathLst>
              <a:path h="364545" w="749708">
                <a:moveTo>
                  <a:pt x="749707" y="0"/>
                </a:moveTo>
                <a:lnTo>
                  <a:pt x="0" y="0"/>
                </a:lnTo>
                <a:lnTo>
                  <a:pt x="0" y="364546"/>
                </a:lnTo>
                <a:lnTo>
                  <a:pt x="749707" y="364546"/>
                </a:lnTo>
                <a:lnTo>
                  <a:pt x="749707" y="0"/>
                </a:lnTo>
                <a:close/>
              </a:path>
            </a:pathLst>
          </a:custGeom>
          <a:blipFill>
            <a:blip r:embed="rId16">
              <a:alphaModFix amt="72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7692499">
            <a:off x="6144480" y="6085046"/>
            <a:ext cx="749708" cy="364545"/>
          </a:xfrm>
          <a:custGeom>
            <a:avLst/>
            <a:gdLst/>
            <a:ahLst/>
            <a:cxnLst/>
            <a:rect r="r" b="b" t="t" l="l"/>
            <a:pathLst>
              <a:path h="364545" w="749708">
                <a:moveTo>
                  <a:pt x="0" y="364546"/>
                </a:moveTo>
                <a:lnTo>
                  <a:pt x="749708" y="364546"/>
                </a:lnTo>
                <a:lnTo>
                  <a:pt x="749708" y="0"/>
                </a:lnTo>
                <a:lnTo>
                  <a:pt x="0" y="0"/>
                </a:lnTo>
                <a:lnTo>
                  <a:pt x="0" y="364546"/>
                </a:lnTo>
                <a:close/>
              </a:path>
            </a:pathLst>
          </a:custGeom>
          <a:blipFill>
            <a:blip r:embed="rId16">
              <a:alphaModFix amt="72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297454" y="8387379"/>
            <a:ext cx="1630178" cy="2603079"/>
          </a:xfrm>
          <a:custGeom>
            <a:avLst/>
            <a:gdLst/>
            <a:ahLst/>
            <a:cxnLst/>
            <a:rect r="r" b="b" t="t" l="l"/>
            <a:pathLst>
              <a:path h="2603079" w="1630178">
                <a:moveTo>
                  <a:pt x="0" y="0"/>
                </a:moveTo>
                <a:lnTo>
                  <a:pt x="1630178" y="0"/>
                </a:lnTo>
                <a:lnTo>
                  <a:pt x="1630178" y="2603079"/>
                </a:lnTo>
                <a:lnTo>
                  <a:pt x="0" y="26030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49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00161" y="7711786"/>
            <a:ext cx="597555" cy="533318"/>
          </a:xfrm>
          <a:custGeom>
            <a:avLst/>
            <a:gdLst/>
            <a:ahLst/>
            <a:cxnLst/>
            <a:rect r="r" b="b" t="t" l="l"/>
            <a:pathLst>
              <a:path h="533318" w="597555">
                <a:moveTo>
                  <a:pt x="0" y="0"/>
                </a:moveTo>
                <a:lnTo>
                  <a:pt x="597555" y="0"/>
                </a:lnTo>
                <a:lnTo>
                  <a:pt x="597555" y="533318"/>
                </a:lnTo>
                <a:lnTo>
                  <a:pt x="0" y="53331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43999"/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191102" y="553355"/>
            <a:ext cx="597555" cy="533318"/>
          </a:xfrm>
          <a:custGeom>
            <a:avLst/>
            <a:gdLst/>
            <a:ahLst/>
            <a:cxnLst/>
            <a:rect r="r" b="b" t="t" l="l"/>
            <a:pathLst>
              <a:path h="533318" w="597555">
                <a:moveTo>
                  <a:pt x="0" y="0"/>
                </a:moveTo>
                <a:lnTo>
                  <a:pt x="597555" y="0"/>
                </a:lnTo>
                <a:lnTo>
                  <a:pt x="597555" y="533318"/>
                </a:lnTo>
                <a:lnTo>
                  <a:pt x="0" y="53331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43999"/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925070" y="9013326"/>
            <a:ext cx="597555" cy="533318"/>
          </a:xfrm>
          <a:custGeom>
            <a:avLst/>
            <a:gdLst/>
            <a:ahLst/>
            <a:cxnLst/>
            <a:rect r="r" b="b" t="t" l="l"/>
            <a:pathLst>
              <a:path h="533318" w="597555">
                <a:moveTo>
                  <a:pt x="0" y="0"/>
                </a:moveTo>
                <a:lnTo>
                  <a:pt x="597555" y="0"/>
                </a:lnTo>
                <a:lnTo>
                  <a:pt x="597555" y="533318"/>
                </a:lnTo>
                <a:lnTo>
                  <a:pt x="0" y="53331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43999"/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625477" y="330167"/>
            <a:ext cx="597555" cy="533318"/>
          </a:xfrm>
          <a:custGeom>
            <a:avLst/>
            <a:gdLst/>
            <a:ahLst/>
            <a:cxnLst/>
            <a:rect r="r" b="b" t="t" l="l"/>
            <a:pathLst>
              <a:path h="533318" w="597555">
                <a:moveTo>
                  <a:pt x="0" y="0"/>
                </a:moveTo>
                <a:lnTo>
                  <a:pt x="597555" y="0"/>
                </a:lnTo>
                <a:lnTo>
                  <a:pt x="597555" y="533319"/>
                </a:lnTo>
                <a:lnTo>
                  <a:pt x="0" y="53331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43999"/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true" rot="-7936856">
            <a:off x="10925529" y="6068949"/>
            <a:ext cx="749708" cy="364545"/>
          </a:xfrm>
          <a:custGeom>
            <a:avLst/>
            <a:gdLst/>
            <a:ahLst/>
            <a:cxnLst/>
            <a:rect r="r" b="b" t="t" l="l"/>
            <a:pathLst>
              <a:path h="364545" w="749708">
                <a:moveTo>
                  <a:pt x="749707" y="364545"/>
                </a:moveTo>
                <a:lnTo>
                  <a:pt x="0" y="364545"/>
                </a:lnTo>
                <a:lnTo>
                  <a:pt x="0" y="0"/>
                </a:lnTo>
                <a:lnTo>
                  <a:pt x="749707" y="0"/>
                </a:lnTo>
                <a:lnTo>
                  <a:pt x="749707" y="364545"/>
                </a:lnTo>
                <a:close/>
              </a:path>
            </a:pathLst>
          </a:custGeom>
          <a:blipFill>
            <a:blip r:embed="rId16">
              <a:alphaModFix amt="72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3448708">
            <a:off x="10884031" y="3405364"/>
            <a:ext cx="749708" cy="364545"/>
          </a:xfrm>
          <a:custGeom>
            <a:avLst/>
            <a:gdLst/>
            <a:ahLst/>
            <a:cxnLst/>
            <a:rect r="r" b="b" t="t" l="l"/>
            <a:pathLst>
              <a:path h="364545" w="749708">
                <a:moveTo>
                  <a:pt x="0" y="0"/>
                </a:moveTo>
                <a:lnTo>
                  <a:pt x="749708" y="0"/>
                </a:lnTo>
                <a:lnTo>
                  <a:pt x="749708" y="364546"/>
                </a:lnTo>
                <a:lnTo>
                  <a:pt x="0" y="36454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72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990592" y="863916"/>
            <a:ext cx="2207290" cy="88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060"/>
                </a:solidFill>
                <a:latin typeface="Scripter"/>
                <a:ea typeface="Scripter"/>
                <a:cs typeface="Scripter"/>
                <a:sym typeface="Scripter"/>
              </a:rPr>
              <a:t>uso en desarrollo web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37095" y="1872683"/>
            <a:ext cx="3206323" cy="115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04140" indent="-152070" lvl="1">
              <a:lnSpc>
                <a:spcPts val="1591"/>
              </a:lnSpc>
              <a:buFont typeface="Arial"/>
              <a:buChar char="•"/>
            </a:pPr>
            <a:r>
              <a:rPr lang="en-US" sz="1408">
                <a:solidFill>
                  <a:srgbClr val="3B5060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🌍 Servidor web (Nginx, Apache)</a:t>
            </a:r>
          </a:p>
          <a:p>
            <a:pPr algn="ctr" marL="304140" indent="-152070" lvl="1">
              <a:lnSpc>
                <a:spcPts val="1591"/>
              </a:lnSpc>
              <a:buFont typeface="Arial"/>
              <a:buChar char="•"/>
            </a:pPr>
            <a:r>
              <a:rPr lang="en-US" sz="1408">
                <a:solidFill>
                  <a:srgbClr val="3B5060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🛢️ Base de datos (MySQL, PostgreSQL)</a:t>
            </a:r>
          </a:p>
          <a:p>
            <a:pPr algn="ctr" marL="304140" indent="-152070" lvl="1">
              <a:lnSpc>
                <a:spcPts val="1591"/>
              </a:lnSpc>
              <a:buFont typeface="Arial"/>
              <a:buChar char="•"/>
            </a:pPr>
            <a:r>
              <a:rPr lang="en-US" sz="1408">
                <a:solidFill>
                  <a:srgbClr val="3B5060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⚙️ Backend (PHP, Node.js, Python)</a:t>
            </a:r>
          </a:p>
          <a:p>
            <a:pPr algn="ctr" marL="304140" indent="-152070" lvl="1">
              <a:lnSpc>
                <a:spcPts val="1591"/>
              </a:lnSpc>
              <a:buFont typeface="Arial"/>
              <a:buChar char="•"/>
            </a:pPr>
            <a:r>
              <a:rPr lang="en-US" sz="1408">
                <a:solidFill>
                  <a:srgbClr val="3B5060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🎨 Frontend (React, Vue, Angular)</a:t>
            </a:r>
          </a:p>
          <a:p>
            <a:pPr algn="ctr">
              <a:lnSpc>
                <a:spcPts val="1591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-61179">
            <a:off x="12891443" y="1188231"/>
            <a:ext cx="1804541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B5060"/>
                </a:solidFill>
                <a:latin typeface="Scripter"/>
                <a:ea typeface="Scripter"/>
                <a:cs typeface="Scripter"/>
                <a:sym typeface="Scripter"/>
              </a:rPr>
              <a:t>Definicion</a:t>
            </a:r>
          </a:p>
        </p:txBody>
      </p:sp>
      <p:sp>
        <p:nvSpPr>
          <p:cNvPr name="TextBox 23" id="23"/>
          <p:cNvSpPr txBox="true"/>
          <p:nvPr/>
        </p:nvSpPr>
        <p:spPr>
          <a:xfrm rot="-61179">
            <a:off x="12413370" y="1776865"/>
            <a:ext cx="2698511" cy="774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05070" indent="-152535" lvl="1">
              <a:lnSpc>
                <a:spcPts val="1596"/>
              </a:lnSpc>
              <a:buFont typeface="Arial"/>
              <a:buChar char="•"/>
            </a:pPr>
            <a:r>
              <a:rPr lang="en-US" sz="1413">
                <a:solidFill>
                  <a:srgbClr val="3B5060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Entorno ligero y aislado</a:t>
            </a:r>
          </a:p>
          <a:p>
            <a:pPr algn="ctr" marL="305070" indent="-152535" lvl="1">
              <a:lnSpc>
                <a:spcPts val="1596"/>
              </a:lnSpc>
              <a:buFont typeface="Arial"/>
              <a:buChar char="•"/>
            </a:pPr>
            <a:r>
              <a:rPr lang="en-US" sz="1413">
                <a:solidFill>
                  <a:srgbClr val="3B5060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Incluye código, dependencias y configuraciones</a:t>
            </a:r>
          </a:p>
          <a:p>
            <a:pPr algn="ctr" marL="305070" indent="-152535" lvl="1">
              <a:lnSpc>
                <a:spcPts val="1596"/>
              </a:lnSpc>
              <a:buFont typeface="Arial"/>
              <a:buChar char="•"/>
            </a:pPr>
            <a:r>
              <a:rPr lang="en-US" sz="1413">
                <a:solidFill>
                  <a:srgbClr val="3B5060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Portátil y reproducible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60355" y="6867005"/>
            <a:ext cx="1804541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B5060"/>
                </a:solidFill>
                <a:latin typeface="Scripter"/>
                <a:ea typeface="Scripter"/>
                <a:cs typeface="Scripter"/>
                <a:sym typeface="Scripter"/>
              </a:rPr>
              <a:t>BENEFICIOS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73946" y="7545751"/>
            <a:ext cx="3308262" cy="160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268713" indent="-134356" lvl="1">
              <a:lnSpc>
                <a:spcPts val="1406"/>
              </a:lnSpc>
              <a:buFont typeface="Arial"/>
              <a:buChar char="•"/>
            </a:pPr>
            <a:r>
              <a:rPr lang="en-US" sz="1244">
                <a:solidFill>
                  <a:srgbClr val="3B5060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🚀 Portabilidad (funciona igual en cualquier sistema)</a:t>
            </a:r>
          </a:p>
          <a:p>
            <a:pPr algn="ctr" marL="268713" indent="-134356" lvl="1">
              <a:lnSpc>
                <a:spcPts val="1406"/>
              </a:lnSpc>
              <a:buFont typeface="Arial"/>
              <a:buChar char="•"/>
            </a:pPr>
            <a:r>
              <a:rPr lang="en-US" sz="1244">
                <a:solidFill>
                  <a:srgbClr val="3B5060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🏗 Aislamiento (evita conflictos entre aplicaciones)</a:t>
            </a:r>
          </a:p>
          <a:p>
            <a:pPr algn="ctr" marL="268713" indent="-134356" lvl="1">
              <a:lnSpc>
                <a:spcPts val="1406"/>
              </a:lnSpc>
              <a:buFont typeface="Arial"/>
              <a:buChar char="•"/>
            </a:pPr>
            <a:r>
              <a:rPr lang="en-US" sz="1244">
                <a:solidFill>
                  <a:srgbClr val="3B5060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⚡ Eficiencia (consume menos recursos que máquinas virtuales)</a:t>
            </a:r>
          </a:p>
          <a:p>
            <a:pPr algn="ctr" marL="268713" indent="-134356" lvl="1">
              <a:lnSpc>
                <a:spcPts val="1406"/>
              </a:lnSpc>
              <a:buFont typeface="Arial"/>
              <a:buChar char="•"/>
            </a:pPr>
            <a:r>
              <a:rPr lang="en-US" sz="1244">
                <a:solidFill>
                  <a:srgbClr val="3B5060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🔄 Facilita CI/CD (automatización en desarrollo y despliegue)</a:t>
            </a:r>
          </a:p>
          <a:p>
            <a:pPr algn="ctr">
              <a:lnSpc>
                <a:spcPts val="1293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2990592" y="6822786"/>
            <a:ext cx="1685160" cy="88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B5060"/>
                </a:solidFill>
                <a:latin typeface="Scripter"/>
                <a:ea typeface="Scripter"/>
                <a:cs typeface="Scripter"/>
                <a:sym typeface="Scripter"/>
              </a:rPr>
              <a:t>Tecnologías principales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55328" y="7904951"/>
            <a:ext cx="2698511" cy="109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26659" indent="-163330" lvl="1">
              <a:lnSpc>
                <a:spcPts val="1709"/>
              </a:lnSpc>
              <a:buFont typeface="Arial"/>
              <a:buChar char="•"/>
            </a:pPr>
            <a:r>
              <a:rPr lang="en-US" sz="1513">
                <a:solidFill>
                  <a:srgbClr val="3B5060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🐳 Docker (el más popular)</a:t>
            </a:r>
          </a:p>
          <a:p>
            <a:pPr algn="ctr" marL="326659" indent="-163330" lvl="1">
              <a:lnSpc>
                <a:spcPts val="1709"/>
              </a:lnSpc>
              <a:buFont typeface="Arial"/>
              <a:buChar char="•"/>
            </a:pPr>
            <a:r>
              <a:rPr lang="en-US" sz="1513">
                <a:solidFill>
                  <a:srgbClr val="3B5060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🔹 Podman (alternativa sin daemon)</a:t>
            </a:r>
          </a:p>
          <a:p>
            <a:pPr algn="ctr" marL="326659" indent="-163330" lvl="1">
              <a:lnSpc>
                <a:spcPts val="1709"/>
              </a:lnSpc>
              <a:buFont typeface="Arial"/>
              <a:buChar char="•"/>
            </a:pPr>
            <a:r>
              <a:rPr lang="en-US" sz="1513">
                <a:solidFill>
                  <a:srgbClr val="3B5060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🔧 LXC (contenedores a nivel de sistema)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DAGf76U2GzY</dc:identifier>
  <dcterms:modified xsi:type="dcterms:W3CDTF">2011-08-01T06:04:30Z</dcterms:modified>
  <cp:revision>1</cp:revision>
  <dc:title>Protocolo HTTP</dc:title>
</cp:coreProperties>
</file>